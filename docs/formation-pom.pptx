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0" y="1463040"/>
            <a:ext cx="2926080" cy="347472"/>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91640" y="1508760"/>
            <a:ext cx="2834640" cy="292608"/>
          </a:xfrm>
          <a:prstGeom prst="rect">
            <a:avLst/>
          </a:prstGeom>
          <a:noFill/>
        </p:spPr>
        <p:txBody>
          <a:bodyPr wrap="square">
            <a:spAutoFit/>
          </a:bodyPr>
          <a:lstStyle/>
          <a:p>
            <a:pPr algn="ctr"/>
            <a:r>
              <a:rPr sz="1100" b="1" i="0">
                <a:solidFill>
                  <a:srgbClr val="FFFFFF"/>
                </a:solidFill>
                <a:latin typeface="Calibri"/>
              </a:rPr>
              <a:t>FORMATION PLAYWRIGHT</a:t>
            </a:r>
          </a:p>
        </p:txBody>
      </p:sp>
      <p:sp>
        <p:nvSpPr>
          <p:cNvPr id="5" name="TextBox 4"/>
          <p:cNvSpPr txBox="1"/>
          <p:nvPr/>
        </p:nvSpPr>
        <p:spPr>
          <a:xfrm>
            <a:off x="1371600" y="1920240"/>
            <a:ext cx="8686800" cy="1005840"/>
          </a:xfrm>
          <a:prstGeom prst="rect">
            <a:avLst/>
          </a:prstGeom>
          <a:noFill/>
        </p:spPr>
        <p:txBody>
          <a:bodyPr wrap="square">
            <a:spAutoFit/>
          </a:bodyPr>
          <a:lstStyle/>
          <a:p>
            <a:pPr algn="l"/>
            <a:r>
              <a:rPr sz="6000" b="1" i="0">
                <a:solidFill>
                  <a:srgbClr val="141A2E"/>
                </a:solidFill>
                <a:latin typeface="Calibri"/>
              </a:rPr>
              <a:t>Page Object</a:t>
            </a:r>
          </a:p>
        </p:txBody>
      </p:sp>
      <p:sp>
        <p:nvSpPr>
          <p:cNvPr id="6" name="TextBox 5"/>
          <p:cNvSpPr txBox="1"/>
          <p:nvPr/>
        </p:nvSpPr>
        <p:spPr>
          <a:xfrm>
            <a:off x="1371600" y="2834640"/>
            <a:ext cx="8686800" cy="914400"/>
          </a:xfrm>
          <a:prstGeom prst="rect">
            <a:avLst/>
          </a:prstGeom>
          <a:noFill/>
        </p:spPr>
        <p:txBody>
          <a:bodyPr wrap="square">
            <a:spAutoFit/>
          </a:bodyPr>
          <a:lstStyle/>
          <a:p>
            <a:pPr algn="l"/>
            <a:r>
              <a:rPr sz="6000" b="1" i="0">
                <a:solidFill>
                  <a:srgbClr val="F04E6A"/>
                </a:solidFill>
                <a:latin typeface="Calibri"/>
              </a:rPr>
              <a:t>Model</a:t>
            </a:r>
          </a:p>
        </p:txBody>
      </p:sp>
      <p:sp>
        <p:nvSpPr>
          <p:cNvPr id="7" name="TextBox 6"/>
          <p:cNvSpPr txBox="1"/>
          <p:nvPr/>
        </p:nvSpPr>
        <p:spPr>
          <a:xfrm>
            <a:off x="1371600" y="3840480"/>
            <a:ext cx="8686800" cy="822960"/>
          </a:xfrm>
          <a:prstGeom prst="rect">
            <a:avLst/>
          </a:prstGeom>
          <a:noFill/>
        </p:spPr>
        <p:txBody>
          <a:bodyPr wrap="square">
            <a:spAutoFit/>
          </a:bodyPr>
          <a:lstStyle/>
          <a:p>
            <a:pPr algn="l"/>
            <a:r>
              <a:rPr sz="1600" b="0" i="0">
                <a:solidFill>
                  <a:srgbClr val="444D5E"/>
                </a:solidFill>
                <a:latin typeface="Calibri"/>
              </a:rPr>
              <a:t>Structurer ses tests Playwright avec le pattern POM —
Démonstration sur SauceDemo</a:t>
            </a:r>
          </a:p>
        </p:txBody>
      </p:sp>
      <p:sp>
        <p:nvSpPr>
          <p:cNvPr id="8" name="Rectangle 7"/>
          <p:cNvSpPr/>
          <p:nvPr/>
        </p:nvSpPr>
        <p:spPr>
          <a:xfrm>
            <a:off x="1371600" y="4846320"/>
            <a:ext cx="10515600" cy="18288"/>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4983480"/>
            <a:ext cx="3200400" cy="320040"/>
          </a:xfrm>
          <a:prstGeom prst="rect">
            <a:avLst/>
          </a:prstGeom>
          <a:noFill/>
        </p:spPr>
        <p:txBody>
          <a:bodyPr wrap="square">
            <a:spAutoFit/>
          </a:bodyPr>
          <a:lstStyle/>
          <a:p>
            <a:pPr algn="l"/>
            <a:r>
              <a:rPr sz="1300" b="1" i="0">
                <a:solidFill>
                  <a:srgbClr val="141A2E"/>
                </a:solidFill>
                <a:latin typeface="Calibri"/>
              </a:rPr>
              <a:t>Parcours</a:t>
            </a:r>
          </a:p>
        </p:txBody>
      </p:sp>
      <p:sp>
        <p:nvSpPr>
          <p:cNvPr id="10" name="TextBox 9"/>
          <p:cNvSpPr txBox="1"/>
          <p:nvPr/>
        </p:nvSpPr>
        <p:spPr>
          <a:xfrm>
            <a:off x="1371600" y="5303520"/>
            <a:ext cx="3200400" cy="320040"/>
          </a:xfrm>
          <a:prstGeom prst="rect">
            <a:avLst/>
          </a:prstGeom>
          <a:noFill/>
        </p:spPr>
        <p:txBody>
          <a:bodyPr wrap="square">
            <a:spAutoFit/>
          </a:bodyPr>
          <a:lstStyle/>
          <a:p>
            <a:pPr algn="l"/>
            <a:r>
              <a:rPr sz="1200" b="0" i="0">
                <a:solidFill>
                  <a:srgbClr val="444D5E"/>
                </a:solidFill>
                <a:latin typeface="Calibri"/>
              </a:rPr>
              <a:t>Connexion → Produit → Détail</a:t>
            </a:r>
          </a:p>
        </p:txBody>
      </p:sp>
      <p:sp>
        <p:nvSpPr>
          <p:cNvPr id="11" name="TextBox 10"/>
          <p:cNvSpPr txBox="1"/>
          <p:nvPr/>
        </p:nvSpPr>
        <p:spPr>
          <a:xfrm>
            <a:off x="4846320" y="4983480"/>
            <a:ext cx="3200400" cy="320040"/>
          </a:xfrm>
          <a:prstGeom prst="rect">
            <a:avLst/>
          </a:prstGeom>
          <a:noFill/>
        </p:spPr>
        <p:txBody>
          <a:bodyPr wrap="square">
            <a:spAutoFit/>
          </a:bodyPr>
          <a:lstStyle/>
          <a:p>
            <a:pPr algn="l"/>
            <a:r>
              <a:rPr sz="1300" b="1" i="0">
                <a:solidFill>
                  <a:srgbClr val="141A2E"/>
                </a:solidFill>
                <a:latin typeface="Calibri"/>
              </a:rPr>
              <a:t>Framework</a:t>
            </a:r>
          </a:p>
        </p:txBody>
      </p:sp>
      <p:sp>
        <p:nvSpPr>
          <p:cNvPr id="12" name="TextBox 11"/>
          <p:cNvSpPr txBox="1"/>
          <p:nvPr/>
        </p:nvSpPr>
        <p:spPr>
          <a:xfrm>
            <a:off x="4846320" y="5303520"/>
            <a:ext cx="3200400" cy="320040"/>
          </a:xfrm>
          <a:prstGeom prst="rect">
            <a:avLst/>
          </a:prstGeom>
          <a:noFill/>
        </p:spPr>
        <p:txBody>
          <a:bodyPr wrap="square">
            <a:spAutoFit/>
          </a:bodyPr>
          <a:lstStyle/>
          <a:p>
            <a:pPr algn="l"/>
            <a:r>
              <a:rPr sz="1200" b="0" i="0">
                <a:solidFill>
                  <a:srgbClr val="444D5E"/>
                </a:solidFill>
                <a:latin typeface="Calibri"/>
              </a:rPr>
              <a:t>Playwright + TypeScript</a:t>
            </a:r>
          </a:p>
        </p:txBody>
      </p:sp>
      <p:sp>
        <p:nvSpPr>
          <p:cNvPr id="13" name="TextBox 12"/>
          <p:cNvSpPr txBox="1"/>
          <p:nvPr/>
        </p:nvSpPr>
        <p:spPr>
          <a:xfrm>
            <a:off x="8321040" y="4983480"/>
            <a:ext cx="3200400" cy="320040"/>
          </a:xfrm>
          <a:prstGeom prst="rect">
            <a:avLst/>
          </a:prstGeom>
          <a:noFill/>
        </p:spPr>
        <p:txBody>
          <a:bodyPr wrap="square">
            <a:spAutoFit/>
          </a:bodyPr>
          <a:lstStyle/>
          <a:p>
            <a:pPr algn="l"/>
            <a:r>
              <a:rPr sz="1300" b="1" i="0">
                <a:solidFill>
                  <a:srgbClr val="141A2E"/>
                </a:solidFill>
                <a:latin typeface="Calibri"/>
              </a:rPr>
              <a:t>Pattern</a:t>
            </a:r>
          </a:p>
        </p:txBody>
      </p:sp>
      <p:sp>
        <p:nvSpPr>
          <p:cNvPr id="14" name="TextBox 13"/>
          <p:cNvSpPr txBox="1"/>
          <p:nvPr/>
        </p:nvSpPr>
        <p:spPr>
          <a:xfrm>
            <a:off x="8321040" y="5303520"/>
            <a:ext cx="3200400" cy="320040"/>
          </a:xfrm>
          <a:prstGeom prst="rect">
            <a:avLst/>
          </a:prstGeom>
          <a:noFill/>
        </p:spPr>
        <p:txBody>
          <a:bodyPr wrap="square">
            <a:spAutoFit/>
          </a:bodyPr>
          <a:lstStyle/>
          <a:p>
            <a:pPr algn="l"/>
            <a:r>
              <a:rPr sz="1200" b="0" i="0">
                <a:solidFill>
                  <a:srgbClr val="444D5E"/>
                </a:solidFill>
                <a:latin typeface="Calibri"/>
              </a:rPr>
              <a:t>Page Object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228600"/>
            <a:ext cx="54864" cy="45720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4572000" cy="292608"/>
          </a:xfrm>
          <a:prstGeom prst="rect">
            <a:avLst/>
          </a:prstGeom>
          <a:noFill/>
        </p:spPr>
        <p:txBody>
          <a:bodyPr wrap="square">
            <a:spAutoFit/>
          </a:bodyPr>
          <a:lstStyle/>
          <a:p>
            <a:pPr algn="l"/>
            <a:r>
              <a:rPr sz="1000" b="1" i="0">
                <a:solidFill>
                  <a:srgbClr val="F04E6A"/>
                </a:solidFill>
                <a:latin typeface="Calibri"/>
              </a:rPr>
              <a:t>01 — CONTEXTE</a:t>
            </a:r>
          </a:p>
        </p:txBody>
      </p:sp>
      <p:sp>
        <p:nvSpPr>
          <p:cNvPr id="4" name="TextBox 3"/>
          <p:cNvSpPr txBox="1"/>
          <p:nvPr/>
        </p:nvSpPr>
        <p:spPr>
          <a:xfrm>
            <a:off x="365760" y="566928"/>
            <a:ext cx="11430000" cy="914400"/>
          </a:xfrm>
          <a:prstGeom prst="rect">
            <a:avLst/>
          </a:prstGeom>
          <a:noFill/>
        </p:spPr>
        <p:txBody>
          <a:bodyPr wrap="square">
            <a:spAutoFit/>
          </a:bodyPr>
          <a:lstStyle/>
          <a:p>
            <a:pPr algn="l"/>
            <a:r>
              <a:rPr sz="3600" b="1" i="0">
                <a:solidFill>
                  <a:srgbClr val="141A2E"/>
                </a:solidFill>
                <a:latin typeface="Calibri"/>
              </a:rPr>
              <a:t>Le problème que POM résout</a:t>
            </a:r>
          </a:p>
        </p:txBody>
      </p:sp>
      <p:sp>
        <p:nvSpPr>
          <p:cNvPr id="5" name="Rectangle 4"/>
          <p:cNvSpPr/>
          <p:nvPr/>
        </p:nvSpPr>
        <p:spPr>
          <a:xfrm>
            <a:off x="365760" y="1435607"/>
            <a:ext cx="914400" cy="4572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572768"/>
            <a:ext cx="11430000" cy="502920"/>
          </a:xfrm>
          <a:prstGeom prst="rect">
            <a:avLst/>
          </a:prstGeom>
          <a:noFill/>
        </p:spPr>
        <p:txBody>
          <a:bodyPr wrap="square">
            <a:spAutoFit/>
          </a:bodyPr>
          <a:lstStyle/>
          <a:p>
            <a:pPr algn="l"/>
            <a:r>
              <a:rPr sz="1400" b="0" i="0">
                <a:solidFill>
                  <a:srgbClr val="444D5E"/>
                </a:solidFill>
                <a:latin typeface="Calibri"/>
              </a:rPr>
              <a:t>Sans organisation, les tests deviennent rapidement fragiles et impossibles à maintenir. Imaginons un simple test de connexion :</a:t>
            </a:r>
          </a:p>
        </p:txBody>
      </p:sp>
      <p:sp>
        <p:nvSpPr>
          <p:cNvPr id="7" name="Rectangle 6"/>
          <p:cNvSpPr/>
          <p:nvPr/>
        </p:nvSpPr>
        <p:spPr>
          <a:xfrm>
            <a:off x="365760" y="2148840"/>
            <a:ext cx="11430000" cy="19202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13432"/>
            <a:ext cx="11064240" cy="1645920"/>
          </a:xfrm>
          <a:prstGeom prst="rect">
            <a:avLst/>
          </a:prstGeom>
          <a:noFill/>
        </p:spPr>
        <p:txBody>
          <a:bodyPr wrap="none">
            <a:spAutoFit/>
          </a:bodyPr>
          <a:lstStyle/>
          <a:p>
            <a:r>
              <a:rPr sz="1100">
                <a:solidFill>
                  <a:srgbClr val="F04E6A"/>
                </a:solidFill>
                <a:latin typeface="Courier New"/>
              </a:rPr>
              <a:t>// ❌  SANS POM — tout dans le test</a:t>
            </a:r>
          </a:p>
          <a:p>
            <a:r>
              <a:rPr sz="1100">
                <a:solidFill>
                  <a:srgbClr val="CCD3E0"/>
                </a:solidFill>
                <a:latin typeface="Courier New"/>
              </a:rPr>
              <a:t>test("connexion", async ({ page }) =&gt; {</a:t>
            </a:r>
          </a:p>
          <a:p>
            <a:r>
              <a:rPr sz="1100">
                <a:solidFill>
                  <a:srgbClr val="CCD3E0"/>
                </a:solidFill>
                <a:latin typeface="Courier New"/>
              </a:rPr>
              <a:t>  await page.goto("https://saucedemo.com");</a:t>
            </a:r>
          </a:p>
          <a:p>
            <a:r>
              <a:rPr sz="1100">
                <a:solidFill>
                  <a:srgbClr val="CCD3E0"/>
                </a:solidFill>
                <a:latin typeface="Courier New"/>
              </a:rPr>
              <a:t>  await page.fill("[data-test='username']", "standard_user");  // sélecteur en dur</a:t>
            </a:r>
          </a:p>
          <a:p>
            <a:r>
              <a:rPr sz="1100">
                <a:solidFill>
                  <a:srgbClr val="CCD3E0"/>
                </a:solidFill>
                <a:latin typeface="Courier New"/>
              </a:rPr>
              <a:t>  await page.fill("[data-test='password']", "secret_sauce");   // credential en dur</a:t>
            </a:r>
          </a:p>
          <a:p>
            <a:r>
              <a:rPr sz="1100">
                <a:solidFill>
                  <a:srgbClr val="CCD3E0"/>
                </a:solidFill>
                <a:latin typeface="Courier New"/>
              </a:rPr>
              <a:t>  await page.click("[data-test='login-button']");               // sélecteur en dur</a:t>
            </a:r>
          </a:p>
          <a:p>
            <a:r>
              <a:rPr sz="1100">
                <a:solidFill>
                  <a:srgbClr val="CCD3E0"/>
                </a:solidFill>
                <a:latin typeface="Courier New"/>
              </a:rPr>
              <a:t>  await expect(page).toHaveURL(/inventory/);</a:t>
            </a:r>
          </a:p>
          <a:p>
            <a:r>
              <a:rPr sz="1100">
                <a:solidFill>
                  <a:srgbClr val="CCD3E0"/>
                </a:solidFill>
                <a:latin typeface="Courier New"/>
              </a:rPr>
              <a:t>});</a:t>
            </a:r>
          </a:p>
        </p:txBody>
      </p:sp>
      <p:sp>
        <p:nvSpPr>
          <p:cNvPr id="9" name="Rectangle 8"/>
          <p:cNvSpPr/>
          <p:nvPr/>
        </p:nvSpPr>
        <p:spPr>
          <a:xfrm>
            <a:off x="365760" y="4160520"/>
            <a:ext cx="11430000" cy="594360"/>
          </a:xfrm>
          <a:prstGeom prst="rect">
            <a:avLst/>
          </a:prstGeom>
          <a:solidFill>
            <a:srgbClr val="FF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4160520"/>
            <a:ext cx="73152" cy="59436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224528"/>
            <a:ext cx="11064240" cy="502920"/>
          </a:xfrm>
          <a:prstGeom prst="rect">
            <a:avLst/>
          </a:prstGeom>
          <a:noFill/>
        </p:spPr>
        <p:txBody>
          <a:bodyPr wrap="square">
            <a:spAutoFit/>
          </a:bodyPr>
          <a:lstStyle/>
          <a:p>
            <a:pPr algn="l"/>
            <a:r>
              <a:rPr sz="1300" b="0" i="0">
                <a:solidFill>
                  <a:srgbClr val="141A2E"/>
                </a:solidFill>
                <a:latin typeface="Calibri"/>
              </a:rPr>
              <a:t>Le piège : si l'attribut data-test='username' change, il faut mettre à jour chaque test qui l'utilise. Avec 50 tests, c'est un cauchemar.</a:t>
            </a:r>
          </a:p>
        </p:txBody>
      </p:sp>
      <p:sp>
        <p:nvSpPr>
          <p:cNvPr id="12" name="Rectangle 11"/>
          <p:cNvSpPr/>
          <p:nvPr/>
        </p:nvSpPr>
        <p:spPr>
          <a:xfrm>
            <a:off x="365760" y="4892040"/>
            <a:ext cx="5577840" cy="384048"/>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4956048"/>
            <a:ext cx="5303520" cy="320040"/>
          </a:xfrm>
          <a:prstGeom prst="rect">
            <a:avLst/>
          </a:prstGeom>
          <a:noFill/>
        </p:spPr>
        <p:txBody>
          <a:bodyPr wrap="square">
            <a:spAutoFit/>
          </a:bodyPr>
          <a:lstStyle/>
          <a:p>
            <a:pPr algn="l"/>
            <a:r>
              <a:rPr sz="1300" b="1" i="0">
                <a:solidFill>
                  <a:srgbClr val="FFFFFF"/>
                </a:solidFill>
                <a:latin typeface="Calibri"/>
              </a:rPr>
              <a:t>Fragilité</a:t>
            </a:r>
          </a:p>
        </p:txBody>
      </p:sp>
      <p:sp>
        <p:nvSpPr>
          <p:cNvPr id="14" name="Rectangle 13"/>
          <p:cNvSpPr/>
          <p:nvPr/>
        </p:nvSpPr>
        <p:spPr>
          <a:xfrm>
            <a:off x="365760" y="5276088"/>
            <a:ext cx="5577840" cy="13990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367527"/>
            <a:ext cx="5212079" cy="1234440"/>
          </a:xfrm>
          <a:prstGeom prst="rect">
            <a:avLst/>
          </a:prstGeom>
          <a:noFill/>
        </p:spPr>
        <p:txBody>
          <a:bodyPr wrap="square">
            <a:spAutoFit/>
          </a:bodyPr>
          <a:lstStyle/>
          <a:p>
            <a:pPr>
              <a:spcBef>
                <a:spcPts val="400"/>
              </a:spcBef>
            </a:pPr>
            <a:r>
              <a:rPr sz="1300">
                <a:solidFill>
                  <a:srgbClr val="444D5E"/>
                </a:solidFill>
                <a:latin typeface="Calibri"/>
              </a:rPr>
              <a:t>• Un sélecteur change → 10 tests cassés</a:t>
            </a:r>
          </a:p>
          <a:p>
            <a:pPr>
              <a:spcBef>
                <a:spcPts val="400"/>
              </a:spcBef>
            </a:pPr>
            <a:r>
              <a:rPr sz="1300">
                <a:solidFill>
                  <a:srgbClr val="444D5E"/>
                </a:solidFill>
                <a:latin typeface="Calibri"/>
              </a:rPr>
              <a:t>• Duplication massive du même code</a:t>
            </a:r>
          </a:p>
          <a:p>
            <a:pPr>
              <a:spcBef>
                <a:spcPts val="400"/>
              </a:spcBef>
            </a:pPr>
            <a:r>
              <a:rPr sz="1300">
                <a:solidFill>
                  <a:srgbClr val="444D5E"/>
                </a:solidFill>
                <a:latin typeface="Calibri"/>
              </a:rPr>
              <a:t>• Difficile de savoir où corriger</a:t>
            </a:r>
          </a:p>
        </p:txBody>
      </p:sp>
      <p:sp>
        <p:nvSpPr>
          <p:cNvPr id="16" name="Rectangle 15"/>
          <p:cNvSpPr/>
          <p:nvPr/>
        </p:nvSpPr>
        <p:spPr>
          <a:xfrm>
            <a:off x="6217920" y="4892040"/>
            <a:ext cx="5577840" cy="384048"/>
          </a:xfrm>
          <a:prstGeom prst="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4956048"/>
            <a:ext cx="5303520" cy="320040"/>
          </a:xfrm>
          <a:prstGeom prst="rect">
            <a:avLst/>
          </a:prstGeom>
          <a:noFill/>
        </p:spPr>
        <p:txBody>
          <a:bodyPr wrap="square">
            <a:spAutoFit/>
          </a:bodyPr>
          <a:lstStyle/>
          <a:p>
            <a:pPr algn="l"/>
            <a:r>
              <a:rPr sz="1300" b="1" i="0">
                <a:solidFill>
                  <a:srgbClr val="FFFFFF"/>
                </a:solidFill>
                <a:latin typeface="Calibri"/>
              </a:rPr>
              <a:t>Illisibilité</a:t>
            </a:r>
          </a:p>
        </p:txBody>
      </p:sp>
      <p:sp>
        <p:nvSpPr>
          <p:cNvPr id="18" name="Rectangle 17"/>
          <p:cNvSpPr/>
          <p:nvPr/>
        </p:nvSpPr>
        <p:spPr>
          <a:xfrm>
            <a:off x="6217920" y="5276088"/>
            <a:ext cx="5577840" cy="13990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5367527"/>
            <a:ext cx="5212079" cy="1234440"/>
          </a:xfrm>
          <a:prstGeom prst="rect">
            <a:avLst/>
          </a:prstGeom>
          <a:noFill/>
        </p:spPr>
        <p:txBody>
          <a:bodyPr wrap="square">
            <a:spAutoFit/>
          </a:bodyPr>
          <a:lstStyle/>
          <a:p>
            <a:pPr>
              <a:spcBef>
                <a:spcPts val="400"/>
              </a:spcBef>
            </a:pPr>
            <a:r>
              <a:rPr sz="1300">
                <a:solidFill>
                  <a:srgbClr val="444D5E"/>
                </a:solidFill>
                <a:latin typeface="Calibri"/>
              </a:rPr>
              <a:t>• Tests mélangeant quoi tester et comment cliquer</a:t>
            </a:r>
          </a:p>
          <a:p>
            <a:pPr>
              <a:spcBef>
                <a:spcPts val="400"/>
              </a:spcBef>
            </a:pPr>
            <a:r>
              <a:rPr sz="1300">
                <a:solidFill>
                  <a:srgbClr val="444D5E"/>
                </a:solidFill>
                <a:latin typeface="Calibri"/>
              </a:rPr>
              <a:t>• Impossible de comprendre l'intention</a:t>
            </a:r>
          </a:p>
          <a:p>
            <a:pPr>
              <a:spcBef>
                <a:spcPts val="400"/>
              </a:spcBef>
            </a:pPr>
            <a:r>
              <a:rPr sz="1300">
                <a:solidFill>
                  <a:srgbClr val="444D5E"/>
                </a:solidFill>
                <a:latin typeface="Calibri"/>
              </a:rPr>
              <a:t>• Onboarding d'un nouveau coéquipier très long</a:t>
            </a:r>
          </a:p>
        </p:txBody>
      </p:sp>
      <p:sp>
        <p:nvSpPr>
          <p:cNvPr id="20" name="Rectangle 19"/>
          <p:cNvSpPr/>
          <p:nvPr/>
        </p:nvSpPr>
        <p:spPr>
          <a:xfrm>
            <a:off x="0" y="6720840"/>
            <a:ext cx="12188952" cy="13716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6739128"/>
            <a:ext cx="10972800" cy="137160"/>
          </a:xfrm>
          <a:prstGeom prst="rect">
            <a:avLst/>
          </a:prstGeom>
          <a:noFill/>
        </p:spPr>
        <p:txBody>
          <a:bodyPr wrap="square">
            <a:spAutoFit/>
          </a:bodyPr>
          <a:lstStyle/>
          <a:p>
            <a:pPr algn="ctr"/>
            <a:r>
              <a:rPr sz="900" b="0" i="0">
                <a:solidFill>
                  <a:srgbClr val="444D5E"/>
                </a:solidFill>
                <a:latin typeface="Calibri"/>
              </a:rPr>
              <a:t>Formation Playwright — AmbientIT  ·  Page Object Model  ·  Projet SauceDemo</a:t>
            </a:r>
          </a:p>
        </p:txBody>
      </p:sp>
      <p:sp>
        <p:nvSpPr>
          <p:cNvPr id="22" name="TextBox 21"/>
          <p:cNvSpPr txBox="1"/>
          <p:nvPr/>
        </p:nvSpPr>
        <p:spPr>
          <a:xfrm>
            <a:off x="11795760" y="6739128"/>
            <a:ext cx="320040" cy="137160"/>
          </a:xfrm>
          <a:prstGeom prst="rect">
            <a:avLst/>
          </a:prstGeom>
          <a:noFill/>
        </p:spPr>
        <p:txBody>
          <a:bodyPr wrap="square">
            <a:spAutoFit/>
          </a:bodyPr>
          <a:lstStyle/>
          <a:p>
            <a:pPr algn="l"/>
            <a:r>
              <a:rPr sz="900" b="0" i="0">
                <a:solidFill>
                  <a:srgbClr val="444D5E"/>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228600"/>
            <a:ext cx="54864" cy="45720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4572000" cy="292608"/>
          </a:xfrm>
          <a:prstGeom prst="rect">
            <a:avLst/>
          </a:prstGeom>
          <a:noFill/>
        </p:spPr>
        <p:txBody>
          <a:bodyPr wrap="square">
            <a:spAutoFit/>
          </a:bodyPr>
          <a:lstStyle/>
          <a:p>
            <a:pPr algn="l"/>
            <a:r>
              <a:rPr sz="1000" b="1" i="0">
                <a:solidFill>
                  <a:srgbClr val="F04E6A"/>
                </a:solidFill>
                <a:latin typeface="Calibri"/>
              </a:rPr>
              <a:t>02 — LE PATTERN</a:t>
            </a:r>
          </a:p>
        </p:txBody>
      </p:sp>
      <p:sp>
        <p:nvSpPr>
          <p:cNvPr id="4" name="TextBox 3"/>
          <p:cNvSpPr txBox="1"/>
          <p:nvPr/>
        </p:nvSpPr>
        <p:spPr>
          <a:xfrm>
            <a:off x="365760" y="566928"/>
            <a:ext cx="11430000" cy="914400"/>
          </a:xfrm>
          <a:prstGeom prst="rect">
            <a:avLst/>
          </a:prstGeom>
          <a:noFill/>
        </p:spPr>
        <p:txBody>
          <a:bodyPr wrap="square">
            <a:spAutoFit/>
          </a:bodyPr>
          <a:lstStyle/>
          <a:p>
            <a:pPr algn="l"/>
            <a:r>
              <a:rPr sz="3600" b="1" i="0">
                <a:solidFill>
                  <a:srgbClr val="141A2E"/>
                </a:solidFill>
                <a:latin typeface="Calibri"/>
              </a:rPr>
              <a:t>Les 4 piliers du POM</a:t>
            </a:r>
          </a:p>
        </p:txBody>
      </p:sp>
      <p:sp>
        <p:nvSpPr>
          <p:cNvPr id="5" name="Rectangle 4"/>
          <p:cNvSpPr/>
          <p:nvPr/>
        </p:nvSpPr>
        <p:spPr>
          <a:xfrm>
            <a:off x="365760" y="1435607"/>
            <a:ext cx="914400" cy="4572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2788920" cy="54864"/>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63624"/>
            <a:ext cx="2788920" cy="21031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627632"/>
            <a:ext cx="2560320" cy="384048"/>
          </a:xfrm>
          <a:prstGeom prst="rect">
            <a:avLst/>
          </a:prstGeom>
          <a:noFill/>
        </p:spPr>
        <p:txBody>
          <a:bodyPr wrap="square">
            <a:spAutoFit/>
          </a:bodyPr>
          <a:lstStyle/>
          <a:p>
            <a:pPr algn="l"/>
            <a:r>
              <a:rPr sz="1500" b="1" i="0">
                <a:solidFill>
                  <a:srgbClr val="F04E6A"/>
                </a:solidFill>
                <a:latin typeface="Calibri"/>
              </a:rPr>
              <a:t>Encapsulation</a:t>
            </a:r>
          </a:p>
        </p:txBody>
      </p:sp>
      <p:sp>
        <p:nvSpPr>
          <p:cNvPr id="9" name="TextBox 8"/>
          <p:cNvSpPr txBox="1"/>
          <p:nvPr/>
        </p:nvSpPr>
        <p:spPr>
          <a:xfrm>
            <a:off x="502920" y="2029968"/>
            <a:ext cx="2560320" cy="1463040"/>
          </a:xfrm>
          <a:prstGeom prst="rect">
            <a:avLst/>
          </a:prstGeom>
          <a:noFill/>
        </p:spPr>
        <p:txBody>
          <a:bodyPr wrap="square">
            <a:spAutoFit/>
          </a:bodyPr>
          <a:lstStyle/>
          <a:p>
            <a:pPr algn="l"/>
            <a:r>
              <a:rPr sz="1300" b="0" i="0">
                <a:solidFill>
                  <a:srgbClr val="444D5E"/>
                </a:solidFill>
                <a:latin typeface="Calibri"/>
              </a:rPr>
              <a:t>Les sélecteurs sont privés. Seule la classe les connaît. Les tests ne voient que des méthodes.</a:t>
            </a:r>
          </a:p>
        </p:txBody>
      </p:sp>
      <p:sp>
        <p:nvSpPr>
          <p:cNvPr id="10" name="Rectangle 9"/>
          <p:cNvSpPr/>
          <p:nvPr/>
        </p:nvSpPr>
        <p:spPr>
          <a:xfrm>
            <a:off x="3319272" y="1508760"/>
            <a:ext cx="2788920" cy="54864"/>
          </a:xfrm>
          <a:prstGeom prst="rect">
            <a:avLst/>
          </a:prstGeom>
          <a:solidFill>
            <a:srgbClr val="2D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19272" y="1563624"/>
            <a:ext cx="2788920" cy="21031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56432" y="1627632"/>
            <a:ext cx="2560320" cy="384048"/>
          </a:xfrm>
          <a:prstGeom prst="rect">
            <a:avLst/>
          </a:prstGeom>
          <a:noFill/>
        </p:spPr>
        <p:txBody>
          <a:bodyPr wrap="square">
            <a:spAutoFit/>
          </a:bodyPr>
          <a:lstStyle/>
          <a:p>
            <a:pPr algn="l"/>
            <a:r>
              <a:rPr sz="1500" b="1" i="0">
                <a:solidFill>
                  <a:srgbClr val="2DBEB6"/>
                </a:solidFill>
                <a:latin typeface="Calibri"/>
              </a:rPr>
              <a:t>Réutilisabilité</a:t>
            </a:r>
          </a:p>
        </p:txBody>
      </p:sp>
      <p:sp>
        <p:nvSpPr>
          <p:cNvPr id="13" name="TextBox 12"/>
          <p:cNvSpPr txBox="1"/>
          <p:nvPr/>
        </p:nvSpPr>
        <p:spPr>
          <a:xfrm>
            <a:off x="3456432" y="2029968"/>
            <a:ext cx="2560320" cy="1463040"/>
          </a:xfrm>
          <a:prstGeom prst="rect">
            <a:avLst/>
          </a:prstGeom>
          <a:noFill/>
        </p:spPr>
        <p:txBody>
          <a:bodyPr wrap="square">
            <a:spAutoFit/>
          </a:bodyPr>
          <a:lstStyle/>
          <a:p>
            <a:pPr algn="l"/>
            <a:r>
              <a:rPr sz="1300" b="0" i="0">
                <a:solidFill>
                  <a:srgbClr val="444D5E"/>
                </a:solidFill>
                <a:latin typeface="Calibri"/>
              </a:rPr>
              <a:t>La méthode login() est écrite une seule fois et utilisée dans tous les tests qui en ont besoin.</a:t>
            </a:r>
          </a:p>
        </p:txBody>
      </p:sp>
      <p:sp>
        <p:nvSpPr>
          <p:cNvPr id="14" name="Rectangle 13"/>
          <p:cNvSpPr/>
          <p:nvPr/>
        </p:nvSpPr>
        <p:spPr>
          <a:xfrm>
            <a:off x="6272784" y="1508760"/>
            <a:ext cx="2788920" cy="54864"/>
          </a:xfrm>
          <a:prstGeom prst="rect">
            <a:avLst/>
          </a:prstGeom>
          <a:solidFill>
            <a:srgbClr val="5A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2784" y="1563624"/>
            <a:ext cx="2788920" cy="21031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1627632"/>
            <a:ext cx="2560320" cy="384048"/>
          </a:xfrm>
          <a:prstGeom prst="rect">
            <a:avLst/>
          </a:prstGeom>
          <a:noFill/>
        </p:spPr>
        <p:txBody>
          <a:bodyPr wrap="square">
            <a:spAutoFit/>
          </a:bodyPr>
          <a:lstStyle/>
          <a:p>
            <a:pPr algn="l"/>
            <a:r>
              <a:rPr sz="1500" b="1" i="0">
                <a:solidFill>
                  <a:srgbClr val="5A7FFF"/>
                </a:solidFill>
                <a:latin typeface="Calibri"/>
              </a:rPr>
              <a:t>Lisibilité</a:t>
            </a:r>
          </a:p>
        </p:txBody>
      </p:sp>
      <p:sp>
        <p:nvSpPr>
          <p:cNvPr id="17" name="TextBox 16"/>
          <p:cNvSpPr txBox="1"/>
          <p:nvPr/>
        </p:nvSpPr>
        <p:spPr>
          <a:xfrm>
            <a:off x="6409944" y="2029968"/>
            <a:ext cx="2560320" cy="1463040"/>
          </a:xfrm>
          <a:prstGeom prst="rect">
            <a:avLst/>
          </a:prstGeom>
          <a:noFill/>
        </p:spPr>
        <p:txBody>
          <a:bodyPr wrap="square">
            <a:spAutoFit/>
          </a:bodyPr>
          <a:lstStyle/>
          <a:p>
            <a:pPr algn="l"/>
            <a:r>
              <a:rPr sz="1300" b="0" i="0">
                <a:solidFill>
                  <a:srgbClr val="444D5E"/>
                </a:solidFill>
                <a:latin typeface="Calibri"/>
              </a:rPr>
              <a:t>Un test se lit comme un scénario humain : « je me connecte, je clique, je vois le détail ».</a:t>
            </a:r>
          </a:p>
        </p:txBody>
      </p:sp>
      <p:sp>
        <p:nvSpPr>
          <p:cNvPr id="18" name="Rectangle 17"/>
          <p:cNvSpPr/>
          <p:nvPr/>
        </p:nvSpPr>
        <p:spPr>
          <a:xfrm>
            <a:off x="9226296" y="1508760"/>
            <a:ext cx="2788920" cy="54864"/>
          </a:xfrm>
          <a:prstGeom prst="rect">
            <a:avLst/>
          </a:prstGeom>
          <a:solidFill>
            <a:srgbClr val="FF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26296" y="1563624"/>
            <a:ext cx="2788920" cy="21031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63456" y="1627632"/>
            <a:ext cx="2560320" cy="384048"/>
          </a:xfrm>
          <a:prstGeom prst="rect">
            <a:avLst/>
          </a:prstGeom>
          <a:noFill/>
        </p:spPr>
        <p:txBody>
          <a:bodyPr wrap="square">
            <a:spAutoFit/>
          </a:bodyPr>
          <a:lstStyle/>
          <a:p>
            <a:pPr algn="l"/>
            <a:r>
              <a:rPr sz="1500" b="1" i="0">
                <a:solidFill>
                  <a:srgbClr val="FF8C2A"/>
                </a:solidFill>
                <a:latin typeface="Calibri"/>
              </a:rPr>
              <a:t>Maintenabilité</a:t>
            </a:r>
          </a:p>
        </p:txBody>
      </p:sp>
      <p:sp>
        <p:nvSpPr>
          <p:cNvPr id="21" name="TextBox 20"/>
          <p:cNvSpPr txBox="1"/>
          <p:nvPr/>
        </p:nvSpPr>
        <p:spPr>
          <a:xfrm>
            <a:off x="9363456" y="2029968"/>
            <a:ext cx="2560320" cy="1463040"/>
          </a:xfrm>
          <a:prstGeom prst="rect">
            <a:avLst/>
          </a:prstGeom>
          <a:noFill/>
        </p:spPr>
        <p:txBody>
          <a:bodyPr wrap="square">
            <a:spAutoFit/>
          </a:bodyPr>
          <a:lstStyle/>
          <a:p>
            <a:pPr algn="l"/>
            <a:r>
              <a:rPr sz="1300" b="0" i="0">
                <a:solidFill>
                  <a:srgbClr val="444D5E"/>
                </a:solidFill>
                <a:latin typeface="Calibri"/>
              </a:rPr>
              <a:t>Si un sélecteur change, on ne modifie que la classe, jamais les tests. Un seul point de vérité.</a:t>
            </a:r>
          </a:p>
        </p:txBody>
      </p:sp>
      <p:sp>
        <p:nvSpPr>
          <p:cNvPr id="22" name="Rectangle 21"/>
          <p:cNvSpPr/>
          <p:nvPr/>
        </p:nvSpPr>
        <p:spPr>
          <a:xfrm>
            <a:off x="365760" y="3767328"/>
            <a:ext cx="11430000" cy="658368"/>
          </a:xfrm>
          <a:prstGeom prst="rect">
            <a:avLst/>
          </a:prstGeom>
          <a:solidFill>
            <a:srgbClr val="E8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767328"/>
            <a:ext cx="73152" cy="658368"/>
          </a:xfrm>
          <a:prstGeom prst="rect">
            <a:avLst/>
          </a:prstGeom>
          <a:solidFill>
            <a:srgbClr val="2D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822191"/>
            <a:ext cx="11064240" cy="566928"/>
          </a:xfrm>
          <a:prstGeom prst="rect">
            <a:avLst/>
          </a:prstGeom>
          <a:noFill/>
        </p:spPr>
        <p:txBody>
          <a:bodyPr wrap="square">
            <a:spAutoFit/>
          </a:bodyPr>
          <a:lstStyle/>
          <a:p>
            <a:pPr algn="l"/>
            <a:r>
              <a:rPr sz="1300" b="0" i="0">
                <a:solidFill>
                  <a:srgbClr val="141A2E"/>
                </a:solidFill>
                <a:latin typeface="Calibri"/>
              </a:rPr>
              <a:t>Règle d'or : Un test ne doit jamais contenir de sélecteur CSS ou XPath. Il appelle uniquement les méthodes du Page Object. La logique de comment interagir avec la page appartient au POM, pas au test.</a:t>
            </a:r>
          </a:p>
        </p:txBody>
      </p:sp>
      <p:sp>
        <p:nvSpPr>
          <p:cNvPr id="25" name="TextBox 24"/>
          <p:cNvSpPr txBox="1"/>
          <p:nvPr/>
        </p:nvSpPr>
        <p:spPr>
          <a:xfrm>
            <a:off x="365760" y="4553712"/>
            <a:ext cx="5486400" cy="347472"/>
          </a:xfrm>
          <a:prstGeom prst="rect">
            <a:avLst/>
          </a:prstGeom>
          <a:noFill/>
        </p:spPr>
        <p:txBody>
          <a:bodyPr wrap="square">
            <a:spAutoFit/>
          </a:bodyPr>
          <a:lstStyle/>
          <a:p>
            <a:pPr algn="l"/>
            <a:r>
              <a:rPr sz="1500" b="1" i="0">
                <a:solidFill>
                  <a:srgbClr val="141A2E"/>
                </a:solidFill>
                <a:latin typeface="Calibri"/>
              </a:rPr>
              <a:t>Structure d'un Page Object</a:t>
            </a:r>
          </a:p>
        </p:txBody>
      </p:sp>
      <p:sp>
        <p:nvSpPr>
          <p:cNvPr id="26" name="Rectangle 25"/>
          <p:cNvSpPr/>
          <p:nvPr/>
        </p:nvSpPr>
        <p:spPr>
          <a:xfrm>
            <a:off x="365760" y="4937760"/>
            <a:ext cx="11430000" cy="178308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102352"/>
            <a:ext cx="11064240" cy="1508760"/>
          </a:xfrm>
          <a:prstGeom prst="rect">
            <a:avLst/>
          </a:prstGeom>
          <a:noFill/>
        </p:spPr>
        <p:txBody>
          <a:bodyPr wrap="none">
            <a:spAutoFit/>
          </a:bodyPr>
          <a:lstStyle/>
          <a:p>
            <a:r>
              <a:rPr sz="1100">
                <a:solidFill>
                  <a:srgbClr val="7EC8E3"/>
                </a:solidFill>
                <a:latin typeface="Courier New"/>
              </a:rPr>
              <a:t>export class LoginPage {</a:t>
            </a:r>
          </a:p>
          <a:p>
            <a:r>
              <a:rPr sz="1100">
                <a:solidFill>
                  <a:srgbClr val="667799"/>
                </a:solidFill>
                <a:latin typeface="Courier New"/>
              </a:rPr>
              <a:t>  // ① SÉLECTEURS — privés, jamais exposés aux tests</a:t>
            </a:r>
          </a:p>
          <a:p>
            <a:r>
              <a:rPr sz="1100">
                <a:solidFill>
                  <a:srgbClr val="CCD3E0"/>
                </a:solidFill>
                <a:latin typeface="Courier New"/>
              </a:rPr>
              <a:t>  private readonly usernameInput = this.page.getByPlaceholder('Username');</a:t>
            </a:r>
          </a:p>
          <a:p>
            <a:r>
              <a:rPr sz="1100">
                <a:solidFill>
                  <a:srgbClr val="CCD3E0"/>
                </a:solidFill>
                <a:latin typeface="Courier New"/>
              </a:rPr>
              <a:t>  private readonly loginButton   = this.page.getByRole('button', { name: 'Login' });</a:t>
            </a:r>
          </a:p>
          <a:p>
            <a:r>
              <a:rPr sz="1100">
                <a:solidFill>
                  <a:srgbClr val="667799"/>
                </a:solidFill>
                <a:latin typeface="Courier New"/>
              </a:rPr>
              <a:t>  // ② ACTIONS — méthodes publiques</a:t>
            </a:r>
          </a:p>
          <a:p>
            <a:r>
              <a:rPr sz="1100">
                <a:solidFill>
                  <a:srgbClr val="CCD3E0"/>
                </a:solidFill>
                <a:latin typeface="Courier New"/>
              </a:rPr>
              <a:t>  async login(username: string, password: string) { ... }</a:t>
            </a:r>
          </a:p>
          <a:p>
            <a:r>
              <a:rPr sz="1100">
                <a:solidFill>
                  <a:srgbClr val="667799"/>
                </a:solidFill>
                <a:latin typeface="Courier New"/>
              </a:rPr>
              <a:t>  // ③ ASSERTIONS — vérifications d'état</a:t>
            </a:r>
          </a:p>
          <a:p>
            <a:r>
              <a:rPr sz="1100">
                <a:solidFill>
                  <a:srgbClr val="CCD3E0"/>
                </a:solidFill>
                <a:latin typeface="Courier New"/>
              </a:rPr>
              <a:t>  async assertOnLoginPage() { await expect(this.page).toHaveURL('/'); }</a:t>
            </a:r>
          </a:p>
          <a:p>
            <a:r>
              <a:rPr sz="1100">
                <a:solidFill>
                  <a:srgbClr val="7EC8E3"/>
                </a:solidFill>
                <a:latin typeface="Courier New"/>
              </a:rPr>
              <a:t>}</a:t>
            </a:r>
          </a:p>
        </p:txBody>
      </p:sp>
      <p:sp>
        <p:nvSpPr>
          <p:cNvPr id="28" name="Rectangle 27"/>
          <p:cNvSpPr/>
          <p:nvPr/>
        </p:nvSpPr>
        <p:spPr>
          <a:xfrm>
            <a:off x="0" y="6720840"/>
            <a:ext cx="12188952" cy="13716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739128"/>
            <a:ext cx="10972800" cy="137160"/>
          </a:xfrm>
          <a:prstGeom prst="rect">
            <a:avLst/>
          </a:prstGeom>
          <a:noFill/>
        </p:spPr>
        <p:txBody>
          <a:bodyPr wrap="square">
            <a:spAutoFit/>
          </a:bodyPr>
          <a:lstStyle/>
          <a:p>
            <a:pPr algn="ctr"/>
            <a:r>
              <a:rPr sz="900" b="0" i="0">
                <a:solidFill>
                  <a:srgbClr val="444D5E"/>
                </a:solidFill>
                <a:latin typeface="Calibri"/>
              </a:rPr>
              <a:t>Formation Playwright — AmbientIT  ·  Page Object Model  ·  Projet SauceDemo</a:t>
            </a:r>
          </a:p>
        </p:txBody>
      </p:sp>
      <p:sp>
        <p:nvSpPr>
          <p:cNvPr id="30" name="TextBox 29"/>
          <p:cNvSpPr txBox="1"/>
          <p:nvPr/>
        </p:nvSpPr>
        <p:spPr>
          <a:xfrm>
            <a:off x="11795760" y="6739128"/>
            <a:ext cx="320040" cy="137160"/>
          </a:xfrm>
          <a:prstGeom prst="rect">
            <a:avLst/>
          </a:prstGeom>
          <a:noFill/>
        </p:spPr>
        <p:txBody>
          <a:bodyPr wrap="square">
            <a:spAutoFit/>
          </a:bodyPr>
          <a:lstStyle/>
          <a:p>
            <a:pPr algn="l"/>
            <a:r>
              <a:rPr sz="900" b="0" i="0">
                <a:solidFill>
                  <a:srgbClr val="444D5E"/>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228600"/>
            <a:ext cx="54864" cy="45720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4572000" cy="292608"/>
          </a:xfrm>
          <a:prstGeom prst="rect">
            <a:avLst/>
          </a:prstGeom>
          <a:noFill/>
        </p:spPr>
        <p:txBody>
          <a:bodyPr wrap="square">
            <a:spAutoFit/>
          </a:bodyPr>
          <a:lstStyle/>
          <a:p>
            <a:pPr algn="l"/>
            <a:r>
              <a:rPr sz="1000" b="1" i="0">
                <a:solidFill>
                  <a:srgbClr val="F04E6A"/>
                </a:solidFill>
                <a:latin typeface="Calibri"/>
              </a:rPr>
              <a:t>03 — PARCOURS DÉMONTRÉ</a:t>
            </a:r>
          </a:p>
        </p:txBody>
      </p:sp>
      <p:sp>
        <p:nvSpPr>
          <p:cNvPr id="4" name="TextBox 3"/>
          <p:cNvSpPr txBox="1"/>
          <p:nvPr/>
        </p:nvSpPr>
        <p:spPr>
          <a:xfrm>
            <a:off x="365760" y="566928"/>
            <a:ext cx="11430000" cy="914400"/>
          </a:xfrm>
          <a:prstGeom prst="rect">
            <a:avLst/>
          </a:prstGeom>
          <a:noFill/>
        </p:spPr>
        <p:txBody>
          <a:bodyPr wrap="square">
            <a:spAutoFit/>
          </a:bodyPr>
          <a:lstStyle/>
          <a:p>
            <a:pPr algn="l"/>
            <a:r>
              <a:rPr sz="3600" b="1" i="0">
                <a:solidFill>
                  <a:srgbClr val="141A2E"/>
                </a:solidFill>
                <a:latin typeface="Calibri"/>
              </a:rPr>
              <a:t>Le scénario couvert</a:t>
            </a:r>
          </a:p>
        </p:txBody>
      </p:sp>
      <p:sp>
        <p:nvSpPr>
          <p:cNvPr id="5" name="Rectangle 4"/>
          <p:cNvSpPr/>
          <p:nvPr/>
        </p:nvSpPr>
        <p:spPr>
          <a:xfrm>
            <a:off x="365760" y="1435607"/>
            <a:ext cx="914400" cy="4572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536192"/>
            <a:ext cx="11430000" cy="411480"/>
          </a:xfrm>
          <a:prstGeom prst="rect">
            <a:avLst/>
          </a:prstGeom>
          <a:noFill/>
        </p:spPr>
        <p:txBody>
          <a:bodyPr wrap="square">
            <a:spAutoFit/>
          </a:bodyPr>
          <a:lstStyle/>
          <a:p>
            <a:pPr algn="l"/>
            <a:r>
              <a:rPr sz="1400" b="0" i="0">
                <a:solidFill>
                  <a:srgbClr val="444D5E"/>
                </a:solidFill>
                <a:latin typeface="Calibri"/>
              </a:rPr>
              <a:t>Trois écrans, trois Page Objects, un seul test de bout en bout.</a:t>
            </a:r>
          </a:p>
        </p:txBody>
      </p:sp>
      <p:sp>
        <p:nvSpPr>
          <p:cNvPr id="7" name="Rectangle 6"/>
          <p:cNvSpPr/>
          <p:nvPr/>
        </p:nvSpPr>
        <p:spPr>
          <a:xfrm>
            <a:off x="365760" y="2011680"/>
            <a:ext cx="3566160" cy="54864"/>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066543"/>
            <a:ext cx="3566160" cy="13258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30552"/>
            <a:ext cx="3200400" cy="274320"/>
          </a:xfrm>
          <a:prstGeom prst="rect">
            <a:avLst/>
          </a:prstGeom>
          <a:noFill/>
        </p:spPr>
        <p:txBody>
          <a:bodyPr wrap="square">
            <a:spAutoFit/>
          </a:bodyPr>
          <a:lstStyle/>
          <a:p>
            <a:pPr algn="l"/>
            <a:r>
              <a:rPr sz="1100" b="1" i="0">
                <a:solidFill>
                  <a:srgbClr val="F04E6A"/>
                </a:solidFill>
                <a:latin typeface="Calibri"/>
              </a:rPr>
              <a:t>ÉCRAN 1</a:t>
            </a:r>
          </a:p>
        </p:txBody>
      </p:sp>
      <p:sp>
        <p:nvSpPr>
          <p:cNvPr id="10" name="TextBox 9"/>
          <p:cNvSpPr txBox="1"/>
          <p:nvPr/>
        </p:nvSpPr>
        <p:spPr>
          <a:xfrm>
            <a:off x="548640" y="2404872"/>
            <a:ext cx="3200400" cy="411480"/>
          </a:xfrm>
          <a:prstGeom prst="rect">
            <a:avLst/>
          </a:prstGeom>
          <a:noFill/>
        </p:spPr>
        <p:txBody>
          <a:bodyPr wrap="square">
            <a:spAutoFit/>
          </a:bodyPr>
          <a:lstStyle/>
          <a:p>
            <a:pPr algn="l"/>
            <a:r>
              <a:rPr sz="1800" b="1" i="0">
                <a:solidFill>
                  <a:srgbClr val="141A2E"/>
                </a:solidFill>
                <a:latin typeface="Calibri"/>
              </a:rPr>
              <a:t>Connexion</a:t>
            </a:r>
          </a:p>
        </p:txBody>
      </p:sp>
      <p:sp>
        <p:nvSpPr>
          <p:cNvPr id="11" name="TextBox 10"/>
          <p:cNvSpPr txBox="1"/>
          <p:nvPr/>
        </p:nvSpPr>
        <p:spPr>
          <a:xfrm>
            <a:off x="548640" y="2816352"/>
            <a:ext cx="3200400" cy="274320"/>
          </a:xfrm>
          <a:prstGeom prst="rect">
            <a:avLst/>
          </a:prstGeom>
          <a:noFill/>
        </p:spPr>
        <p:txBody>
          <a:bodyPr wrap="square">
            <a:spAutoFit/>
          </a:bodyPr>
          <a:lstStyle/>
          <a:p>
            <a:pPr algn="l"/>
            <a:r>
              <a:rPr sz="1200" b="0" i="0">
                <a:solidFill>
                  <a:srgbClr val="444D5E"/>
                </a:solidFill>
                <a:latin typeface="Courier New"/>
              </a:rPr>
              <a:t>/index.html</a:t>
            </a:r>
          </a:p>
        </p:txBody>
      </p:sp>
      <p:sp>
        <p:nvSpPr>
          <p:cNvPr id="12" name="TextBox 11"/>
          <p:cNvSpPr txBox="1"/>
          <p:nvPr/>
        </p:nvSpPr>
        <p:spPr>
          <a:xfrm>
            <a:off x="4023360" y="2514600"/>
            <a:ext cx="365760" cy="365760"/>
          </a:xfrm>
          <a:prstGeom prst="rect">
            <a:avLst/>
          </a:prstGeom>
          <a:noFill/>
        </p:spPr>
        <p:txBody>
          <a:bodyPr wrap="square">
            <a:spAutoFit/>
          </a:bodyPr>
          <a:lstStyle/>
          <a:p>
            <a:pPr algn="l"/>
            <a:r>
              <a:rPr sz="2600" b="1" i="0">
                <a:solidFill>
                  <a:srgbClr val="F04E6A"/>
                </a:solidFill>
                <a:latin typeface="Calibri"/>
              </a:rPr>
              <a:t>›</a:t>
            </a:r>
          </a:p>
        </p:txBody>
      </p:sp>
      <p:sp>
        <p:nvSpPr>
          <p:cNvPr id="13" name="Rectangle 12"/>
          <p:cNvSpPr/>
          <p:nvPr/>
        </p:nvSpPr>
        <p:spPr>
          <a:xfrm>
            <a:off x="4297680" y="2011680"/>
            <a:ext cx="3566160" cy="54864"/>
          </a:xfrm>
          <a:prstGeom prst="rect">
            <a:avLst/>
          </a:prstGeom>
          <a:solidFill>
            <a:srgbClr val="2D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66543"/>
            <a:ext cx="3566160" cy="13258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130552"/>
            <a:ext cx="3200400" cy="274320"/>
          </a:xfrm>
          <a:prstGeom prst="rect">
            <a:avLst/>
          </a:prstGeom>
          <a:noFill/>
        </p:spPr>
        <p:txBody>
          <a:bodyPr wrap="square">
            <a:spAutoFit/>
          </a:bodyPr>
          <a:lstStyle/>
          <a:p>
            <a:pPr algn="l"/>
            <a:r>
              <a:rPr sz="1100" b="1" i="0">
                <a:solidFill>
                  <a:srgbClr val="2DBEB6"/>
                </a:solidFill>
                <a:latin typeface="Calibri"/>
              </a:rPr>
              <a:t>ÉCRAN 2</a:t>
            </a:r>
          </a:p>
        </p:txBody>
      </p:sp>
      <p:sp>
        <p:nvSpPr>
          <p:cNvPr id="16" name="TextBox 15"/>
          <p:cNvSpPr txBox="1"/>
          <p:nvPr/>
        </p:nvSpPr>
        <p:spPr>
          <a:xfrm>
            <a:off x="4480560" y="2404872"/>
            <a:ext cx="3200400" cy="411480"/>
          </a:xfrm>
          <a:prstGeom prst="rect">
            <a:avLst/>
          </a:prstGeom>
          <a:noFill/>
        </p:spPr>
        <p:txBody>
          <a:bodyPr wrap="square">
            <a:spAutoFit/>
          </a:bodyPr>
          <a:lstStyle/>
          <a:p>
            <a:pPr algn="l"/>
            <a:r>
              <a:rPr sz="1800" b="1" i="0">
                <a:solidFill>
                  <a:srgbClr val="141A2E"/>
                </a:solidFill>
                <a:latin typeface="Calibri"/>
              </a:rPr>
              <a:t>Liste produits</a:t>
            </a:r>
          </a:p>
        </p:txBody>
      </p:sp>
      <p:sp>
        <p:nvSpPr>
          <p:cNvPr id="17" name="TextBox 16"/>
          <p:cNvSpPr txBox="1"/>
          <p:nvPr/>
        </p:nvSpPr>
        <p:spPr>
          <a:xfrm>
            <a:off x="4480560" y="2816352"/>
            <a:ext cx="3200400" cy="274320"/>
          </a:xfrm>
          <a:prstGeom prst="rect">
            <a:avLst/>
          </a:prstGeom>
          <a:noFill/>
        </p:spPr>
        <p:txBody>
          <a:bodyPr wrap="square">
            <a:spAutoFit/>
          </a:bodyPr>
          <a:lstStyle/>
          <a:p>
            <a:pPr algn="l"/>
            <a:r>
              <a:rPr sz="1200" b="0" i="0">
                <a:solidFill>
                  <a:srgbClr val="444D5E"/>
                </a:solidFill>
                <a:latin typeface="Courier New"/>
              </a:rPr>
              <a:t>/inventory.html</a:t>
            </a:r>
          </a:p>
        </p:txBody>
      </p:sp>
      <p:sp>
        <p:nvSpPr>
          <p:cNvPr id="18" name="TextBox 17"/>
          <p:cNvSpPr txBox="1"/>
          <p:nvPr/>
        </p:nvSpPr>
        <p:spPr>
          <a:xfrm>
            <a:off x="7955279" y="2514600"/>
            <a:ext cx="365760" cy="365760"/>
          </a:xfrm>
          <a:prstGeom prst="rect">
            <a:avLst/>
          </a:prstGeom>
          <a:noFill/>
        </p:spPr>
        <p:txBody>
          <a:bodyPr wrap="square">
            <a:spAutoFit/>
          </a:bodyPr>
          <a:lstStyle/>
          <a:p>
            <a:pPr algn="l"/>
            <a:r>
              <a:rPr sz="2600" b="1" i="0">
                <a:solidFill>
                  <a:srgbClr val="2DBEB6"/>
                </a:solidFill>
                <a:latin typeface="Calibri"/>
              </a:rPr>
              <a:t>›</a:t>
            </a:r>
          </a:p>
        </p:txBody>
      </p:sp>
      <p:sp>
        <p:nvSpPr>
          <p:cNvPr id="19" name="Rectangle 18"/>
          <p:cNvSpPr/>
          <p:nvPr/>
        </p:nvSpPr>
        <p:spPr>
          <a:xfrm>
            <a:off x="8229600" y="2011680"/>
            <a:ext cx="3566160" cy="54864"/>
          </a:xfrm>
          <a:prstGeom prst="rect">
            <a:avLst/>
          </a:prstGeom>
          <a:solidFill>
            <a:srgbClr val="5A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2066543"/>
            <a:ext cx="3566160" cy="13258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2130552"/>
            <a:ext cx="3200400" cy="274320"/>
          </a:xfrm>
          <a:prstGeom prst="rect">
            <a:avLst/>
          </a:prstGeom>
          <a:noFill/>
        </p:spPr>
        <p:txBody>
          <a:bodyPr wrap="square">
            <a:spAutoFit/>
          </a:bodyPr>
          <a:lstStyle/>
          <a:p>
            <a:pPr algn="l"/>
            <a:r>
              <a:rPr sz="1100" b="1" i="0">
                <a:solidFill>
                  <a:srgbClr val="5A7FFF"/>
                </a:solidFill>
                <a:latin typeface="Calibri"/>
              </a:rPr>
              <a:t>ÉCRAN 3</a:t>
            </a:r>
          </a:p>
        </p:txBody>
      </p:sp>
      <p:sp>
        <p:nvSpPr>
          <p:cNvPr id="22" name="TextBox 21"/>
          <p:cNvSpPr txBox="1"/>
          <p:nvPr/>
        </p:nvSpPr>
        <p:spPr>
          <a:xfrm>
            <a:off x="8412480" y="2404872"/>
            <a:ext cx="3200400" cy="411480"/>
          </a:xfrm>
          <a:prstGeom prst="rect">
            <a:avLst/>
          </a:prstGeom>
          <a:noFill/>
        </p:spPr>
        <p:txBody>
          <a:bodyPr wrap="square">
            <a:spAutoFit/>
          </a:bodyPr>
          <a:lstStyle/>
          <a:p>
            <a:pPr algn="l"/>
            <a:r>
              <a:rPr sz="1800" b="1" i="0">
                <a:solidFill>
                  <a:srgbClr val="141A2E"/>
                </a:solidFill>
                <a:latin typeface="Calibri"/>
              </a:rPr>
              <a:t>Détail produit</a:t>
            </a:r>
          </a:p>
        </p:txBody>
      </p:sp>
      <p:sp>
        <p:nvSpPr>
          <p:cNvPr id="23" name="TextBox 22"/>
          <p:cNvSpPr txBox="1"/>
          <p:nvPr/>
        </p:nvSpPr>
        <p:spPr>
          <a:xfrm>
            <a:off x="8412480" y="2816352"/>
            <a:ext cx="3200400" cy="274320"/>
          </a:xfrm>
          <a:prstGeom prst="rect">
            <a:avLst/>
          </a:prstGeom>
          <a:noFill/>
        </p:spPr>
        <p:txBody>
          <a:bodyPr wrap="square">
            <a:spAutoFit/>
          </a:bodyPr>
          <a:lstStyle/>
          <a:p>
            <a:pPr algn="l"/>
            <a:r>
              <a:rPr sz="1200" b="0" i="0">
                <a:solidFill>
                  <a:srgbClr val="444D5E"/>
                </a:solidFill>
                <a:latin typeface="Courier New"/>
              </a:rPr>
              <a:t>/inventory-item.html</a:t>
            </a:r>
          </a:p>
        </p:txBody>
      </p:sp>
      <p:sp>
        <p:nvSpPr>
          <p:cNvPr id="24" name="Rectangle 23"/>
          <p:cNvSpPr/>
          <p:nvPr/>
        </p:nvSpPr>
        <p:spPr>
          <a:xfrm>
            <a:off x="365760" y="3493008"/>
            <a:ext cx="11430000" cy="28346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657600"/>
            <a:ext cx="11064240" cy="2560320"/>
          </a:xfrm>
          <a:prstGeom prst="rect">
            <a:avLst/>
          </a:prstGeom>
          <a:noFill/>
        </p:spPr>
        <p:txBody>
          <a:bodyPr wrap="none">
            <a:spAutoFit/>
          </a:bodyPr>
          <a:lstStyle/>
          <a:p>
            <a:r>
              <a:rPr sz="1100">
                <a:solidFill>
                  <a:srgbClr val="667799"/>
                </a:solidFill>
                <a:latin typeface="Courier New"/>
              </a:rPr>
              <a:t>// tests/inventory.spec.ts</a:t>
            </a:r>
          </a:p>
          <a:p>
            <a:r>
              <a:rPr sz="1100">
                <a:solidFill>
                  <a:srgbClr val="CCD3E0"/>
                </a:solidFill>
                <a:latin typeface="Courier New"/>
              </a:rPr>
              <a:t>test('Connexion, liste, détail produit', async ({</a:t>
            </a:r>
          </a:p>
          <a:p>
            <a:r>
              <a:rPr sz="1100">
                <a:solidFill>
                  <a:srgbClr val="7ED48E"/>
                </a:solidFill>
                <a:latin typeface="Courier New"/>
              </a:rPr>
              <a:t>  loginPage, inventoryPage, inventoryItemPage</a:t>
            </a:r>
          </a:p>
          <a:p>
            <a:r>
              <a:rPr sz="1100">
                <a:solidFill>
                  <a:srgbClr val="CCD3E0"/>
                </a:solidFill>
                <a:latin typeface="Courier New"/>
              </a:rPr>
              <a:t>}) =&gt; {</a:t>
            </a:r>
          </a:p>
          <a:p>
            <a:r>
              <a:rPr sz="1100">
                <a:solidFill>
                  <a:srgbClr val="667799"/>
                </a:solidFill>
                <a:latin typeface="Courier New"/>
              </a:rPr>
              <a:t>  // Given</a:t>
            </a:r>
          </a:p>
          <a:p>
            <a:r>
              <a:rPr sz="1100">
                <a:solidFill>
                  <a:srgbClr val="CCD3E0"/>
                </a:solidFill>
                <a:latin typeface="Courier New"/>
              </a:rPr>
              <a:t>  await loginPage.goto();</a:t>
            </a:r>
          </a:p>
          <a:p>
            <a:r>
              <a:rPr sz="1100">
                <a:solidFill>
                  <a:srgbClr val="CCD3E0"/>
                </a:solidFill>
                <a:latin typeface="Courier New"/>
              </a:rPr>
              <a:t>  await loginPage.login(USERS.standard.username, USERS.standard.password);</a:t>
            </a:r>
          </a:p>
          <a:p>
            <a:r>
              <a:rPr sz="1100">
                <a:solidFill>
                  <a:srgbClr val="667799"/>
                </a:solidFill>
                <a:latin typeface="Courier New"/>
              </a:rPr>
              <a:t>  // Then : page inventory</a:t>
            </a:r>
          </a:p>
          <a:p>
            <a:r>
              <a:rPr sz="1100">
                <a:solidFill>
                  <a:srgbClr val="CCD3E0"/>
                </a:solidFill>
                <a:latin typeface="Courier New"/>
              </a:rPr>
              <a:t>  await inventoryPage.assertOnInventoryPage();</a:t>
            </a:r>
          </a:p>
          <a:p>
            <a:r>
              <a:rPr sz="1100">
                <a:solidFill>
                  <a:srgbClr val="667799"/>
                </a:solidFill>
                <a:latin typeface="Courier New"/>
              </a:rPr>
              <a:t>  // When : clic premier produit</a:t>
            </a:r>
          </a:p>
          <a:p>
            <a:r>
              <a:rPr sz="1100">
                <a:solidFill>
                  <a:srgbClr val="CCD3E0"/>
                </a:solidFill>
                <a:latin typeface="Courier New"/>
              </a:rPr>
              <a:t>  await inventoryPage.clickFirstItem();</a:t>
            </a:r>
          </a:p>
          <a:p>
            <a:r>
              <a:rPr sz="1100">
                <a:solidFill>
                  <a:srgbClr val="667799"/>
                </a:solidFill>
                <a:latin typeface="Courier New"/>
              </a:rPr>
              <a:t>  // Then : page détail</a:t>
            </a:r>
          </a:p>
          <a:p>
            <a:r>
              <a:rPr sz="1100">
                <a:solidFill>
                  <a:srgbClr val="CCD3E0"/>
                </a:solidFill>
                <a:latin typeface="Courier New"/>
              </a:rPr>
              <a:t>  await inventoryItemPage.VerifPageDetail();</a:t>
            </a:r>
          </a:p>
          <a:p>
            <a:r>
              <a:rPr sz="1100">
                <a:solidFill>
                  <a:srgbClr val="CCD3E0"/>
                </a:solidFill>
                <a:latin typeface="Courier New"/>
              </a:rPr>
              <a:t>});</a:t>
            </a:r>
          </a:p>
        </p:txBody>
      </p:sp>
      <p:sp>
        <p:nvSpPr>
          <p:cNvPr id="26" name="Rectangle 25"/>
          <p:cNvSpPr/>
          <p:nvPr/>
        </p:nvSpPr>
        <p:spPr>
          <a:xfrm>
            <a:off x="365760" y="6382512"/>
            <a:ext cx="11430000" cy="384048"/>
          </a:xfrm>
          <a:prstGeom prst="rect">
            <a:avLst/>
          </a:prstGeom>
          <a:solidFill>
            <a:srgbClr val="E8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6382512"/>
            <a:ext cx="73152" cy="384048"/>
          </a:xfrm>
          <a:prstGeom prst="rect">
            <a:avLst/>
          </a:prstGeom>
          <a:solidFill>
            <a:srgbClr val="2D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6428232"/>
            <a:ext cx="11064240" cy="320040"/>
          </a:xfrm>
          <a:prstGeom prst="rect">
            <a:avLst/>
          </a:prstGeom>
          <a:noFill/>
        </p:spPr>
        <p:txBody>
          <a:bodyPr wrap="square">
            <a:spAutoFit/>
          </a:bodyPr>
          <a:lstStyle/>
          <a:p>
            <a:pPr algn="l"/>
            <a:r>
              <a:rPr sz="1200" b="0" i="0">
                <a:solidFill>
                  <a:srgbClr val="141A2E"/>
                </a:solidFill>
                <a:latin typeface="Calibri"/>
              </a:rPr>
              <a:t>Le test ne connaît aucun sélecteur. Il exprime uniquement l'intention : connecter, cliquer, vérifier. Le comment est dans les Page Objects.</a:t>
            </a:r>
          </a:p>
        </p:txBody>
      </p:sp>
      <p:sp>
        <p:nvSpPr>
          <p:cNvPr id="29" name="Rectangle 28"/>
          <p:cNvSpPr/>
          <p:nvPr/>
        </p:nvSpPr>
        <p:spPr>
          <a:xfrm>
            <a:off x="0" y="6720840"/>
            <a:ext cx="12188952" cy="13716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6739128"/>
            <a:ext cx="10972800" cy="137160"/>
          </a:xfrm>
          <a:prstGeom prst="rect">
            <a:avLst/>
          </a:prstGeom>
          <a:noFill/>
        </p:spPr>
        <p:txBody>
          <a:bodyPr wrap="square">
            <a:spAutoFit/>
          </a:bodyPr>
          <a:lstStyle/>
          <a:p>
            <a:pPr algn="ctr"/>
            <a:r>
              <a:rPr sz="900" b="0" i="0">
                <a:solidFill>
                  <a:srgbClr val="444D5E"/>
                </a:solidFill>
                <a:latin typeface="Calibri"/>
              </a:rPr>
              <a:t>Formation Playwright — AmbientIT  ·  Page Object Model  ·  Projet SauceDemo</a:t>
            </a:r>
          </a:p>
        </p:txBody>
      </p:sp>
      <p:sp>
        <p:nvSpPr>
          <p:cNvPr id="31" name="TextBox 30"/>
          <p:cNvSpPr txBox="1"/>
          <p:nvPr/>
        </p:nvSpPr>
        <p:spPr>
          <a:xfrm>
            <a:off x="11795760" y="6739128"/>
            <a:ext cx="320040" cy="137160"/>
          </a:xfrm>
          <a:prstGeom prst="rect">
            <a:avLst/>
          </a:prstGeom>
          <a:noFill/>
        </p:spPr>
        <p:txBody>
          <a:bodyPr wrap="square">
            <a:spAutoFit/>
          </a:bodyPr>
          <a:lstStyle/>
          <a:p>
            <a:pPr algn="l"/>
            <a:r>
              <a:rPr sz="900" b="0" i="0">
                <a:solidFill>
                  <a:srgbClr val="444D5E"/>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228600"/>
            <a:ext cx="54864" cy="45720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4572000" cy="292608"/>
          </a:xfrm>
          <a:prstGeom prst="rect">
            <a:avLst/>
          </a:prstGeom>
          <a:noFill/>
        </p:spPr>
        <p:txBody>
          <a:bodyPr wrap="square">
            <a:spAutoFit/>
          </a:bodyPr>
          <a:lstStyle/>
          <a:p>
            <a:pPr algn="l"/>
            <a:r>
              <a:rPr sz="1000" b="1" i="0">
                <a:solidFill>
                  <a:srgbClr val="F04E6A"/>
                </a:solidFill>
                <a:latin typeface="Calibri"/>
              </a:rPr>
              <a:t>04 — ARCHITECTURE</a:t>
            </a:r>
          </a:p>
        </p:txBody>
      </p:sp>
      <p:sp>
        <p:nvSpPr>
          <p:cNvPr id="4" name="TextBox 3"/>
          <p:cNvSpPr txBox="1"/>
          <p:nvPr/>
        </p:nvSpPr>
        <p:spPr>
          <a:xfrm>
            <a:off x="365760" y="566928"/>
            <a:ext cx="11430000" cy="914400"/>
          </a:xfrm>
          <a:prstGeom prst="rect">
            <a:avLst/>
          </a:prstGeom>
          <a:noFill/>
        </p:spPr>
        <p:txBody>
          <a:bodyPr wrap="square">
            <a:spAutoFit/>
          </a:bodyPr>
          <a:lstStyle/>
          <a:p>
            <a:pPr algn="l"/>
            <a:r>
              <a:rPr sz="3600" b="1" i="0">
                <a:solidFill>
                  <a:srgbClr val="141A2E"/>
                </a:solidFill>
                <a:latin typeface="Calibri"/>
              </a:rPr>
              <a:t>Structure du projet</a:t>
            </a:r>
          </a:p>
        </p:txBody>
      </p:sp>
      <p:sp>
        <p:nvSpPr>
          <p:cNvPr id="5" name="Rectangle 4"/>
          <p:cNvSpPr/>
          <p:nvPr/>
        </p:nvSpPr>
        <p:spPr>
          <a:xfrm>
            <a:off x="365760" y="1435607"/>
            <a:ext cx="914400" cy="4572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11430000" cy="26060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73351"/>
            <a:ext cx="11064240" cy="2331720"/>
          </a:xfrm>
          <a:prstGeom prst="rect">
            <a:avLst/>
          </a:prstGeom>
          <a:noFill/>
        </p:spPr>
        <p:txBody>
          <a:bodyPr wrap="none">
            <a:spAutoFit/>
          </a:bodyPr>
          <a:lstStyle/>
          <a:p>
            <a:r>
              <a:rPr sz="1100">
                <a:solidFill>
                  <a:srgbClr val="FFFFFF"/>
                </a:solidFill>
                <a:latin typeface="Courier New"/>
              </a:rPr>
              <a:t>Projet-POM-Saucedemo/</a:t>
            </a:r>
          </a:p>
          <a:p>
            <a:r>
              <a:rPr sz="1100">
                <a:solidFill>
                  <a:srgbClr val="2DBEB6"/>
                </a:solidFill>
                <a:latin typeface="Courier New"/>
              </a:rPr>
              <a:t>├── src/</a:t>
            </a:r>
          </a:p>
          <a:p>
            <a:r>
              <a:rPr sz="1100">
                <a:solidFill>
                  <a:srgbClr val="667799"/>
                </a:solidFill>
                <a:latin typeface="Courier New"/>
              </a:rPr>
              <a:t>│   ├── pages/              # Page Objects (un fichier par écran)</a:t>
            </a:r>
          </a:p>
          <a:p>
            <a:r>
              <a:rPr sz="1100">
                <a:solidFill>
                  <a:srgbClr val="CCD3E0"/>
                </a:solidFill>
                <a:latin typeface="Courier New"/>
              </a:rPr>
              <a:t>│   │   ├── LoginPage.ts</a:t>
            </a:r>
          </a:p>
          <a:p>
            <a:r>
              <a:rPr sz="1100">
                <a:solidFill>
                  <a:srgbClr val="CCD3E0"/>
                </a:solidFill>
                <a:latin typeface="Courier New"/>
              </a:rPr>
              <a:t>│   │   ├── InventoryPage.ts</a:t>
            </a:r>
          </a:p>
          <a:p>
            <a:r>
              <a:rPr sz="1100">
                <a:solidFill>
                  <a:srgbClr val="CCD3E0"/>
                </a:solidFill>
                <a:latin typeface="Courier New"/>
              </a:rPr>
              <a:t>│   │   └── InventoryItemPage.ts</a:t>
            </a:r>
          </a:p>
          <a:p>
            <a:r>
              <a:rPr sz="1100">
                <a:solidFill>
                  <a:srgbClr val="667799"/>
                </a:solidFill>
                <a:latin typeface="Courier New"/>
              </a:rPr>
              <a:t>│   ├── fixtures/index.ts   # Injection automatique des POMs</a:t>
            </a:r>
          </a:p>
          <a:p>
            <a:r>
              <a:rPr sz="1100">
                <a:solidFill>
                  <a:srgbClr val="667799"/>
                </a:solidFill>
                <a:latin typeface="Courier New"/>
              </a:rPr>
              <a:t>│   └── data/users.ts       # Données de test centralisées</a:t>
            </a:r>
          </a:p>
          <a:p>
            <a:r>
              <a:rPr sz="1100">
                <a:solidFill>
                  <a:srgbClr val="2DBEB6"/>
                </a:solidFill>
                <a:latin typeface="Courier New"/>
              </a:rPr>
              <a:t>├── tests/</a:t>
            </a:r>
          </a:p>
          <a:p>
            <a:r>
              <a:rPr sz="1100">
                <a:solidFill>
                  <a:srgbClr val="667799"/>
                </a:solidFill>
                <a:latin typeface="Courier New"/>
              </a:rPr>
              <a:t>│   ├── login.spec.ts       # Test : authentification</a:t>
            </a:r>
          </a:p>
          <a:p>
            <a:r>
              <a:rPr sz="1100">
                <a:solidFill>
                  <a:srgbClr val="667799"/>
                </a:solidFill>
                <a:latin typeface="Courier New"/>
              </a:rPr>
              <a:t>│   └── inventory.spec.ts   # Test : navigation vers le détail</a:t>
            </a:r>
          </a:p>
          <a:p>
            <a:r>
              <a:rPr sz="1100">
                <a:solidFill>
                  <a:srgbClr val="667799"/>
                </a:solidFill>
                <a:latin typeface="Courier New"/>
              </a:rPr>
              <a:t>└── playwright.config.ts    # Configuration (baseURL, reporter…)</a:t>
            </a:r>
          </a:p>
        </p:txBody>
      </p:sp>
      <p:sp>
        <p:nvSpPr>
          <p:cNvPr id="8" name="Rectangle 7"/>
          <p:cNvSpPr/>
          <p:nvPr/>
        </p:nvSpPr>
        <p:spPr>
          <a:xfrm>
            <a:off x="365760" y="4251960"/>
            <a:ext cx="5577840" cy="384048"/>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4315968"/>
            <a:ext cx="5303520" cy="320040"/>
          </a:xfrm>
          <a:prstGeom prst="rect">
            <a:avLst/>
          </a:prstGeom>
          <a:noFill/>
        </p:spPr>
        <p:txBody>
          <a:bodyPr wrap="square">
            <a:spAutoFit/>
          </a:bodyPr>
          <a:lstStyle/>
          <a:p>
            <a:pPr algn="l"/>
            <a:r>
              <a:rPr sz="1300" b="1" i="0">
                <a:solidFill>
                  <a:srgbClr val="FFFFFF"/>
                </a:solidFill>
                <a:latin typeface="Calibri"/>
              </a:rPr>
              <a:t>src/pages/ — Le COMMENT</a:t>
            </a:r>
          </a:p>
        </p:txBody>
      </p:sp>
      <p:sp>
        <p:nvSpPr>
          <p:cNvPr id="10" name="Rectangle 9"/>
          <p:cNvSpPr/>
          <p:nvPr/>
        </p:nvSpPr>
        <p:spPr>
          <a:xfrm>
            <a:off x="365760" y="4636008"/>
            <a:ext cx="5577840" cy="153619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727448"/>
            <a:ext cx="5212079" cy="1371600"/>
          </a:xfrm>
          <a:prstGeom prst="rect">
            <a:avLst/>
          </a:prstGeom>
          <a:noFill/>
        </p:spPr>
        <p:txBody>
          <a:bodyPr wrap="square">
            <a:spAutoFit/>
          </a:bodyPr>
          <a:lstStyle/>
          <a:p>
            <a:pPr>
              <a:spcBef>
                <a:spcPts val="400"/>
              </a:spcBef>
            </a:pPr>
            <a:r>
              <a:rPr sz="1300">
                <a:solidFill>
                  <a:srgbClr val="444D5E"/>
                </a:solidFill>
                <a:latin typeface="Calibri"/>
              </a:rPr>
              <a:t>• Contient les sélecteurs CSS</a:t>
            </a:r>
          </a:p>
          <a:p>
            <a:pPr>
              <a:spcBef>
                <a:spcPts val="400"/>
              </a:spcBef>
            </a:pPr>
            <a:r>
              <a:rPr sz="1300">
                <a:solidFill>
                  <a:srgbClr val="444D5E"/>
                </a:solidFill>
                <a:latin typeface="Calibri"/>
              </a:rPr>
              <a:t>• Contient les actions bas niveau</a:t>
            </a:r>
          </a:p>
          <a:p>
            <a:pPr>
              <a:spcBef>
                <a:spcPts val="400"/>
              </a:spcBef>
            </a:pPr>
            <a:r>
              <a:rPr sz="1300">
                <a:solidFill>
                  <a:srgbClr val="444D5E"/>
                </a:solidFill>
                <a:latin typeface="Calibri"/>
              </a:rPr>
              <a:t>• Peut changer si l'UI change</a:t>
            </a:r>
          </a:p>
          <a:p>
            <a:pPr>
              <a:spcBef>
                <a:spcPts val="400"/>
              </a:spcBef>
            </a:pPr>
            <a:r>
              <a:rPr sz="1300">
                <a:solidFill>
                  <a:srgbClr val="444D5E"/>
                </a:solidFill>
                <a:latin typeface="Calibri"/>
              </a:rPr>
              <a:t>• Ne contient aucune logique de test</a:t>
            </a:r>
          </a:p>
        </p:txBody>
      </p:sp>
      <p:sp>
        <p:nvSpPr>
          <p:cNvPr id="12" name="Rectangle 11"/>
          <p:cNvSpPr/>
          <p:nvPr/>
        </p:nvSpPr>
        <p:spPr>
          <a:xfrm>
            <a:off x="6217920" y="4251960"/>
            <a:ext cx="5577840" cy="384048"/>
          </a:xfrm>
          <a:prstGeom prst="rect">
            <a:avLst/>
          </a:prstGeom>
          <a:solidFill>
            <a:srgbClr val="2D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315968"/>
            <a:ext cx="5303520" cy="320040"/>
          </a:xfrm>
          <a:prstGeom prst="rect">
            <a:avLst/>
          </a:prstGeom>
          <a:noFill/>
        </p:spPr>
        <p:txBody>
          <a:bodyPr wrap="square">
            <a:spAutoFit/>
          </a:bodyPr>
          <a:lstStyle/>
          <a:p>
            <a:pPr algn="l"/>
            <a:r>
              <a:rPr sz="1300" b="1" i="0">
                <a:solidFill>
                  <a:srgbClr val="FFFFFF"/>
                </a:solidFill>
                <a:latin typeface="Calibri"/>
              </a:rPr>
              <a:t>tests/ — Le QUOI</a:t>
            </a:r>
          </a:p>
        </p:txBody>
      </p:sp>
      <p:sp>
        <p:nvSpPr>
          <p:cNvPr id="14" name="Rectangle 13"/>
          <p:cNvSpPr/>
          <p:nvPr/>
        </p:nvSpPr>
        <p:spPr>
          <a:xfrm>
            <a:off x="6217920" y="4636008"/>
            <a:ext cx="5577840" cy="153619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727448"/>
            <a:ext cx="5212079" cy="1371600"/>
          </a:xfrm>
          <a:prstGeom prst="rect">
            <a:avLst/>
          </a:prstGeom>
          <a:noFill/>
        </p:spPr>
        <p:txBody>
          <a:bodyPr wrap="square">
            <a:spAutoFit/>
          </a:bodyPr>
          <a:lstStyle/>
          <a:p>
            <a:pPr>
              <a:spcBef>
                <a:spcPts val="400"/>
              </a:spcBef>
            </a:pPr>
            <a:r>
              <a:rPr sz="1300">
                <a:solidFill>
                  <a:srgbClr val="444D5E"/>
                </a:solidFill>
                <a:latin typeface="Calibri"/>
              </a:rPr>
              <a:t>• Exprime l'intention métier</a:t>
            </a:r>
          </a:p>
          <a:p>
            <a:pPr>
              <a:spcBef>
                <a:spcPts val="400"/>
              </a:spcBef>
            </a:pPr>
            <a:r>
              <a:rPr sz="1300">
                <a:solidFill>
                  <a:srgbClr val="444D5E"/>
                </a:solidFill>
                <a:latin typeface="Calibri"/>
              </a:rPr>
              <a:t>• Ne contient aucun sélecteur</a:t>
            </a:r>
          </a:p>
          <a:p>
            <a:pPr>
              <a:spcBef>
                <a:spcPts val="400"/>
              </a:spcBef>
            </a:pPr>
            <a:r>
              <a:rPr sz="1300">
                <a:solidFill>
                  <a:srgbClr val="444D5E"/>
                </a:solidFill>
                <a:latin typeface="Calibri"/>
              </a:rPr>
              <a:t>• Lisible par un non-développeur</a:t>
            </a:r>
          </a:p>
          <a:p>
            <a:pPr>
              <a:spcBef>
                <a:spcPts val="400"/>
              </a:spcBef>
            </a:pPr>
            <a:r>
              <a:rPr sz="1300">
                <a:solidFill>
                  <a:srgbClr val="444D5E"/>
                </a:solidFill>
                <a:latin typeface="Calibri"/>
              </a:rPr>
              <a:t>• Stable même si l'UI change</a:t>
            </a:r>
          </a:p>
        </p:txBody>
      </p:sp>
      <p:sp>
        <p:nvSpPr>
          <p:cNvPr id="16" name="TextBox 15"/>
          <p:cNvSpPr txBox="1"/>
          <p:nvPr/>
        </p:nvSpPr>
        <p:spPr>
          <a:xfrm>
            <a:off x="365760" y="6263640"/>
            <a:ext cx="11430000" cy="457200"/>
          </a:xfrm>
          <a:prstGeom prst="rect">
            <a:avLst/>
          </a:prstGeom>
          <a:noFill/>
        </p:spPr>
        <p:txBody>
          <a:bodyPr wrap="square">
            <a:spAutoFit/>
          </a:bodyPr>
          <a:lstStyle/>
          <a:p>
            <a:pPr algn="l"/>
            <a:r>
              <a:rPr sz="1300" b="0" i="1">
                <a:solidFill>
                  <a:srgbClr val="444D5E"/>
                </a:solidFill>
                <a:latin typeface="Calibri"/>
              </a:rPr>
              <a:t>Les fixtures (src/fixtures/index.ts) injectent automatiquement les Page Objects dans les tests via leur nom — plus besoin de new LoginPage(page) dans chaque test.</a:t>
            </a:r>
          </a:p>
        </p:txBody>
      </p:sp>
      <p:sp>
        <p:nvSpPr>
          <p:cNvPr id="17" name="Rectangle 16"/>
          <p:cNvSpPr/>
          <p:nvPr/>
        </p:nvSpPr>
        <p:spPr>
          <a:xfrm>
            <a:off x="0" y="6720840"/>
            <a:ext cx="12188952" cy="13716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6739128"/>
            <a:ext cx="10972800" cy="137160"/>
          </a:xfrm>
          <a:prstGeom prst="rect">
            <a:avLst/>
          </a:prstGeom>
          <a:noFill/>
        </p:spPr>
        <p:txBody>
          <a:bodyPr wrap="square">
            <a:spAutoFit/>
          </a:bodyPr>
          <a:lstStyle/>
          <a:p>
            <a:pPr algn="ctr"/>
            <a:r>
              <a:rPr sz="900" b="0" i="0">
                <a:solidFill>
                  <a:srgbClr val="444D5E"/>
                </a:solidFill>
                <a:latin typeface="Calibri"/>
              </a:rPr>
              <a:t>Formation Playwright — AmbientIT  ·  Page Object Model  ·  Projet SauceDemo</a:t>
            </a:r>
          </a:p>
        </p:txBody>
      </p:sp>
      <p:sp>
        <p:nvSpPr>
          <p:cNvPr id="19" name="TextBox 18"/>
          <p:cNvSpPr txBox="1"/>
          <p:nvPr/>
        </p:nvSpPr>
        <p:spPr>
          <a:xfrm>
            <a:off x="11795760" y="6739128"/>
            <a:ext cx="320040" cy="137160"/>
          </a:xfrm>
          <a:prstGeom prst="rect">
            <a:avLst/>
          </a:prstGeom>
          <a:noFill/>
        </p:spPr>
        <p:txBody>
          <a:bodyPr wrap="square">
            <a:spAutoFit/>
          </a:bodyPr>
          <a:lstStyle/>
          <a:p>
            <a:pPr algn="l"/>
            <a:r>
              <a:rPr sz="900" b="0" i="0">
                <a:solidFill>
                  <a:srgbClr val="444D5E"/>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228600"/>
            <a:ext cx="54864" cy="45720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4572000" cy="292608"/>
          </a:xfrm>
          <a:prstGeom prst="rect">
            <a:avLst/>
          </a:prstGeom>
          <a:noFill/>
        </p:spPr>
        <p:txBody>
          <a:bodyPr wrap="square">
            <a:spAutoFit/>
          </a:bodyPr>
          <a:lstStyle/>
          <a:p>
            <a:pPr algn="l"/>
            <a:r>
              <a:rPr sz="1000" b="1" i="0">
                <a:solidFill>
                  <a:srgbClr val="F04E6A"/>
                </a:solidFill>
                <a:latin typeface="Calibri"/>
              </a:rPr>
              <a:t>05 — LES PAGE OBJECTS</a:t>
            </a:r>
          </a:p>
        </p:txBody>
      </p:sp>
      <p:sp>
        <p:nvSpPr>
          <p:cNvPr id="4" name="TextBox 3"/>
          <p:cNvSpPr txBox="1"/>
          <p:nvPr/>
        </p:nvSpPr>
        <p:spPr>
          <a:xfrm>
            <a:off x="365760" y="566928"/>
            <a:ext cx="11430000" cy="914400"/>
          </a:xfrm>
          <a:prstGeom prst="rect">
            <a:avLst/>
          </a:prstGeom>
          <a:noFill/>
        </p:spPr>
        <p:txBody>
          <a:bodyPr wrap="square">
            <a:spAutoFit/>
          </a:bodyPr>
          <a:lstStyle/>
          <a:p>
            <a:pPr algn="l"/>
            <a:r>
              <a:rPr sz="3600" b="1" i="0">
                <a:solidFill>
                  <a:srgbClr val="141A2E"/>
                </a:solidFill>
                <a:latin typeface="Calibri"/>
              </a:rPr>
              <a:t>Détail des 3 Page Objects</a:t>
            </a:r>
          </a:p>
        </p:txBody>
      </p:sp>
      <p:sp>
        <p:nvSpPr>
          <p:cNvPr id="5" name="Rectangle 4"/>
          <p:cNvSpPr/>
          <p:nvPr/>
        </p:nvSpPr>
        <p:spPr>
          <a:xfrm>
            <a:off x="365760" y="1435607"/>
            <a:ext cx="914400" cy="4572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3657600" cy="54864"/>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63624"/>
            <a:ext cx="3657600" cy="21031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627632"/>
            <a:ext cx="2560320" cy="347472"/>
          </a:xfrm>
          <a:prstGeom prst="rect">
            <a:avLst/>
          </a:prstGeom>
          <a:noFill/>
        </p:spPr>
        <p:txBody>
          <a:bodyPr wrap="square">
            <a:spAutoFit/>
          </a:bodyPr>
          <a:lstStyle/>
          <a:p>
            <a:pPr algn="l"/>
            <a:r>
              <a:rPr sz="1400" b="1" i="0">
                <a:solidFill>
                  <a:srgbClr val="F04E6A"/>
                </a:solidFill>
                <a:latin typeface="Calibri"/>
              </a:rPr>
              <a:t>1 — LoginPage</a:t>
            </a:r>
          </a:p>
        </p:txBody>
      </p:sp>
      <p:sp>
        <p:nvSpPr>
          <p:cNvPr id="9" name="TextBox 8"/>
          <p:cNvSpPr txBox="1"/>
          <p:nvPr/>
        </p:nvSpPr>
        <p:spPr>
          <a:xfrm>
            <a:off x="502920" y="1956816"/>
            <a:ext cx="3383280" cy="274320"/>
          </a:xfrm>
          <a:prstGeom prst="rect">
            <a:avLst/>
          </a:prstGeom>
          <a:noFill/>
        </p:spPr>
        <p:txBody>
          <a:bodyPr wrap="square">
            <a:spAutoFit/>
          </a:bodyPr>
          <a:lstStyle/>
          <a:p>
            <a:pPr algn="l"/>
            <a:r>
              <a:rPr sz="1000" b="0" i="0">
                <a:solidFill>
                  <a:srgbClr val="444D5E"/>
                </a:solidFill>
                <a:latin typeface="Courier New"/>
              </a:rPr>
              <a:t>src/pages/LoginPage.ts</a:t>
            </a:r>
          </a:p>
        </p:txBody>
      </p:sp>
      <p:sp>
        <p:nvSpPr>
          <p:cNvPr id="10" name="Rectangle 9"/>
          <p:cNvSpPr/>
          <p:nvPr/>
        </p:nvSpPr>
        <p:spPr>
          <a:xfrm>
            <a:off x="457200" y="2231136"/>
            <a:ext cx="3474720" cy="256032"/>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58568"/>
            <a:ext cx="3291840" cy="228600"/>
          </a:xfrm>
          <a:prstGeom prst="rect">
            <a:avLst/>
          </a:prstGeom>
          <a:noFill/>
        </p:spPr>
        <p:txBody>
          <a:bodyPr wrap="square">
            <a:spAutoFit/>
          </a:bodyPr>
          <a:lstStyle/>
          <a:p>
            <a:pPr algn="l"/>
            <a:r>
              <a:rPr sz="1100" b="1" i="0">
                <a:solidFill>
                  <a:srgbClr val="141A2E"/>
                </a:solidFill>
                <a:latin typeface="Calibri"/>
              </a:rPr>
              <a:t>Authentification  /index.html</a:t>
            </a:r>
          </a:p>
        </p:txBody>
      </p:sp>
      <p:sp>
        <p:nvSpPr>
          <p:cNvPr id="12" name="TextBox 11"/>
          <p:cNvSpPr txBox="1"/>
          <p:nvPr/>
        </p:nvSpPr>
        <p:spPr>
          <a:xfrm>
            <a:off x="502920" y="2523744"/>
            <a:ext cx="3383280" cy="1051560"/>
          </a:xfrm>
          <a:prstGeom prst="rect">
            <a:avLst/>
          </a:prstGeom>
          <a:noFill/>
        </p:spPr>
        <p:txBody>
          <a:bodyPr wrap="square">
            <a:spAutoFit/>
          </a:bodyPr>
          <a:lstStyle/>
          <a:p>
            <a:pPr>
              <a:spcBef>
                <a:spcPts val="500"/>
              </a:spcBef>
            </a:pPr>
            <a:r>
              <a:rPr sz="1100">
                <a:solidFill>
                  <a:srgbClr val="444D5E"/>
                </a:solidFill>
                <a:latin typeface="Courier New"/>
              </a:rPr>
              <a:t>• goto() → navigue vers la racine du site</a:t>
            </a:r>
          </a:p>
          <a:p>
            <a:pPr>
              <a:spcBef>
                <a:spcPts val="500"/>
              </a:spcBef>
            </a:pPr>
            <a:r>
              <a:rPr sz="1100">
                <a:solidFill>
                  <a:srgbClr val="444D5E"/>
                </a:solidFill>
                <a:latin typeface="Courier New"/>
              </a:rPr>
              <a:t>• login(username, password) → remplit le formulaire et soumet</a:t>
            </a:r>
          </a:p>
          <a:p>
            <a:pPr>
              <a:spcBef>
                <a:spcPts val="500"/>
              </a:spcBef>
            </a:pPr>
            <a:r>
              <a:rPr sz="1100">
                <a:solidFill>
                  <a:srgbClr val="444D5E"/>
                </a:solidFill>
                <a:latin typeface="Courier New"/>
              </a:rPr>
              <a:t>• assertOnLoginPage() → vérifie que l'URL est /</a:t>
            </a:r>
          </a:p>
        </p:txBody>
      </p:sp>
      <p:sp>
        <p:nvSpPr>
          <p:cNvPr id="13" name="Rectangle 12"/>
          <p:cNvSpPr/>
          <p:nvPr/>
        </p:nvSpPr>
        <p:spPr>
          <a:xfrm>
            <a:off x="4297680" y="1508760"/>
            <a:ext cx="3657600" cy="54864"/>
          </a:xfrm>
          <a:prstGeom prst="rect">
            <a:avLst/>
          </a:prstGeom>
          <a:solidFill>
            <a:srgbClr val="2D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563624"/>
            <a:ext cx="3657600" cy="21031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627632"/>
            <a:ext cx="2560320" cy="347472"/>
          </a:xfrm>
          <a:prstGeom prst="rect">
            <a:avLst/>
          </a:prstGeom>
          <a:noFill/>
        </p:spPr>
        <p:txBody>
          <a:bodyPr wrap="square">
            <a:spAutoFit/>
          </a:bodyPr>
          <a:lstStyle/>
          <a:p>
            <a:pPr algn="l"/>
            <a:r>
              <a:rPr sz="1400" b="1" i="0">
                <a:solidFill>
                  <a:srgbClr val="2DBEB6"/>
                </a:solidFill>
                <a:latin typeface="Calibri"/>
              </a:rPr>
              <a:t>2 — InventoryPage</a:t>
            </a:r>
          </a:p>
        </p:txBody>
      </p:sp>
      <p:sp>
        <p:nvSpPr>
          <p:cNvPr id="16" name="TextBox 15"/>
          <p:cNvSpPr txBox="1"/>
          <p:nvPr/>
        </p:nvSpPr>
        <p:spPr>
          <a:xfrm>
            <a:off x="4434840" y="1956816"/>
            <a:ext cx="3383280" cy="274320"/>
          </a:xfrm>
          <a:prstGeom prst="rect">
            <a:avLst/>
          </a:prstGeom>
          <a:noFill/>
        </p:spPr>
        <p:txBody>
          <a:bodyPr wrap="square">
            <a:spAutoFit/>
          </a:bodyPr>
          <a:lstStyle/>
          <a:p>
            <a:pPr algn="l"/>
            <a:r>
              <a:rPr sz="1000" b="0" i="0">
                <a:solidFill>
                  <a:srgbClr val="444D5E"/>
                </a:solidFill>
                <a:latin typeface="Courier New"/>
              </a:rPr>
              <a:t>src/pages/InventoryPage.ts</a:t>
            </a:r>
          </a:p>
        </p:txBody>
      </p:sp>
      <p:sp>
        <p:nvSpPr>
          <p:cNvPr id="17" name="Rectangle 16"/>
          <p:cNvSpPr/>
          <p:nvPr/>
        </p:nvSpPr>
        <p:spPr>
          <a:xfrm>
            <a:off x="4389120" y="2231136"/>
            <a:ext cx="3474720" cy="256032"/>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2258568"/>
            <a:ext cx="3291840" cy="228600"/>
          </a:xfrm>
          <a:prstGeom prst="rect">
            <a:avLst/>
          </a:prstGeom>
          <a:noFill/>
        </p:spPr>
        <p:txBody>
          <a:bodyPr wrap="square">
            <a:spAutoFit/>
          </a:bodyPr>
          <a:lstStyle/>
          <a:p>
            <a:pPr algn="l"/>
            <a:r>
              <a:rPr sz="1100" b="1" i="0">
                <a:solidFill>
                  <a:srgbClr val="141A2E"/>
                </a:solidFill>
                <a:latin typeface="Calibri"/>
              </a:rPr>
              <a:t>Liste produits  /inventory.html</a:t>
            </a:r>
          </a:p>
        </p:txBody>
      </p:sp>
      <p:sp>
        <p:nvSpPr>
          <p:cNvPr id="19" name="TextBox 18"/>
          <p:cNvSpPr txBox="1"/>
          <p:nvPr/>
        </p:nvSpPr>
        <p:spPr>
          <a:xfrm>
            <a:off x="4434840" y="2523744"/>
            <a:ext cx="3383280" cy="1051560"/>
          </a:xfrm>
          <a:prstGeom prst="rect">
            <a:avLst/>
          </a:prstGeom>
          <a:noFill/>
        </p:spPr>
        <p:txBody>
          <a:bodyPr wrap="square">
            <a:spAutoFit/>
          </a:bodyPr>
          <a:lstStyle/>
          <a:p>
            <a:pPr>
              <a:spcBef>
                <a:spcPts val="500"/>
              </a:spcBef>
            </a:pPr>
            <a:r>
              <a:rPr sz="1100">
                <a:solidFill>
                  <a:srgbClr val="444D5E"/>
                </a:solidFill>
                <a:latin typeface="Courier New"/>
              </a:rPr>
              <a:t>• clickFirstItem() → clique sur le premier produit</a:t>
            </a:r>
          </a:p>
          <a:p>
            <a:pPr>
              <a:spcBef>
                <a:spcPts val="500"/>
              </a:spcBef>
            </a:pPr>
            <a:r>
              <a:rPr sz="1100">
                <a:solidFill>
                  <a:srgbClr val="444D5E"/>
                </a:solidFill>
                <a:latin typeface="Courier New"/>
              </a:rPr>
              <a:t>• assertOnInventoryPage() → vérifie URL /inventory.html</a:t>
            </a:r>
          </a:p>
        </p:txBody>
      </p:sp>
      <p:sp>
        <p:nvSpPr>
          <p:cNvPr id="20" name="Rectangle 19"/>
          <p:cNvSpPr/>
          <p:nvPr/>
        </p:nvSpPr>
        <p:spPr>
          <a:xfrm>
            <a:off x="8229600" y="1508760"/>
            <a:ext cx="3657600" cy="54864"/>
          </a:xfrm>
          <a:prstGeom prst="rect">
            <a:avLst/>
          </a:prstGeom>
          <a:solidFill>
            <a:srgbClr val="5A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563624"/>
            <a:ext cx="3657600" cy="21031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627632"/>
            <a:ext cx="2560320" cy="347472"/>
          </a:xfrm>
          <a:prstGeom prst="rect">
            <a:avLst/>
          </a:prstGeom>
          <a:noFill/>
        </p:spPr>
        <p:txBody>
          <a:bodyPr wrap="square">
            <a:spAutoFit/>
          </a:bodyPr>
          <a:lstStyle/>
          <a:p>
            <a:pPr algn="l"/>
            <a:r>
              <a:rPr sz="1400" b="1" i="0">
                <a:solidFill>
                  <a:srgbClr val="5A7FFF"/>
                </a:solidFill>
                <a:latin typeface="Calibri"/>
              </a:rPr>
              <a:t>3 — InventoryItemPage</a:t>
            </a:r>
          </a:p>
        </p:txBody>
      </p:sp>
      <p:sp>
        <p:nvSpPr>
          <p:cNvPr id="23" name="TextBox 22"/>
          <p:cNvSpPr txBox="1"/>
          <p:nvPr/>
        </p:nvSpPr>
        <p:spPr>
          <a:xfrm>
            <a:off x="8366760" y="1956816"/>
            <a:ext cx="3383280" cy="274320"/>
          </a:xfrm>
          <a:prstGeom prst="rect">
            <a:avLst/>
          </a:prstGeom>
          <a:noFill/>
        </p:spPr>
        <p:txBody>
          <a:bodyPr wrap="square">
            <a:spAutoFit/>
          </a:bodyPr>
          <a:lstStyle/>
          <a:p>
            <a:pPr algn="l"/>
            <a:r>
              <a:rPr sz="1000" b="0" i="0">
                <a:solidFill>
                  <a:srgbClr val="444D5E"/>
                </a:solidFill>
                <a:latin typeface="Courier New"/>
              </a:rPr>
              <a:t>src/pages/InventoryItemPage.ts</a:t>
            </a:r>
          </a:p>
        </p:txBody>
      </p:sp>
      <p:sp>
        <p:nvSpPr>
          <p:cNvPr id="24" name="Rectangle 23"/>
          <p:cNvSpPr/>
          <p:nvPr/>
        </p:nvSpPr>
        <p:spPr>
          <a:xfrm>
            <a:off x="8321040" y="2231136"/>
            <a:ext cx="3474720" cy="256032"/>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2258568"/>
            <a:ext cx="3291840" cy="228600"/>
          </a:xfrm>
          <a:prstGeom prst="rect">
            <a:avLst/>
          </a:prstGeom>
          <a:noFill/>
        </p:spPr>
        <p:txBody>
          <a:bodyPr wrap="square">
            <a:spAutoFit/>
          </a:bodyPr>
          <a:lstStyle/>
          <a:p>
            <a:pPr algn="l"/>
            <a:r>
              <a:rPr sz="1100" b="1" i="0">
                <a:solidFill>
                  <a:srgbClr val="141A2E"/>
                </a:solidFill>
                <a:latin typeface="Calibri"/>
              </a:rPr>
              <a:t>Détail  /inventory-item.html</a:t>
            </a:r>
          </a:p>
        </p:txBody>
      </p:sp>
      <p:sp>
        <p:nvSpPr>
          <p:cNvPr id="26" name="TextBox 25"/>
          <p:cNvSpPr txBox="1"/>
          <p:nvPr/>
        </p:nvSpPr>
        <p:spPr>
          <a:xfrm>
            <a:off x="8366760" y="2523744"/>
            <a:ext cx="3383280" cy="1051560"/>
          </a:xfrm>
          <a:prstGeom prst="rect">
            <a:avLst/>
          </a:prstGeom>
          <a:noFill/>
        </p:spPr>
        <p:txBody>
          <a:bodyPr wrap="square">
            <a:spAutoFit/>
          </a:bodyPr>
          <a:lstStyle/>
          <a:p>
            <a:pPr>
              <a:spcBef>
                <a:spcPts val="500"/>
              </a:spcBef>
            </a:pPr>
            <a:r>
              <a:rPr sz="1100">
                <a:solidFill>
                  <a:srgbClr val="444D5E"/>
                </a:solidFill>
                <a:latin typeface="Courier New"/>
              </a:rPr>
              <a:t>• VerifPageDetail() → vérifie URL /inventory-item.html et nom visible</a:t>
            </a:r>
          </a:p>
        </p:txBody>
      </p:sp>
      <p:sp>
        <p:nvSpPr>
          <p:cNvPr id="27" name="TextBox 26"/>
          <p:cNvSpPr txBox="1"/>
          <p:nvPr/>
        </p:nvSpPr>
        <p:spPr>
          <a:xfrm>
            <a:off x="365760" y="3749039"/>
            <a:ext cx="6400800" cy="347472"/>
          </a:xfrm>
          <a:prstGeom prst="rect">
            <a:avLst/>
          </a:prstGeom>
          <a:noFill/>
        </p:spPr>
        <p:txBody>
          <a:bodyPr wrap="square">
            <a:spAutoFit/>
          </a:bodyPr>
          <a:lstStyle/>
          <a:p>
            <a:pPr algn="l"/>
            <a:r>
              <a:rPr sz="1500" b="1" i="0">
                <a:solidFill>
                  <a:srgbClr val="141A2E"/>
                </a:solidFill>
                <a:latin typeface="Calibri"/>
              </a:rPr>
              <a:t>Comparaison avec et sans POM</a:t>
            </a:r>
          </a:p>
        </p:txBody>
      </p:sp>
      <p:sp>
        <p:nvSpPr>
          <p:cNvPr id="28" name="Rectangle 27"/>
          <p:cNvSpPr/>
          <p:nvPr/>
        </p:nvSpPr>
        <p:spPr>
          <a:xfrm>
            <a:off x="365760" y="4160520"/>
            <a:ext cx="2971800" cy="384048"/>
          </a:xfrm>
          <a:prstGeom prst="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 y="4233672"/>
            <a:ext cx="2788920" cy="292607"/>
          </a:xfrm>
          <a:prstGeom prst="rect">
            <a:avLst/>
          </a:prstGeom>
          <a:noFill/>
        </p:spPr>
        <p:txBody>
          <a:bodyPr wrap="square">
            <a:spAutoFit/>
          </a:bodyPr>
          <a:lstStyle/>
          <a:p>
            <a:pPr algn="l"/>
            <a:r>
              <a:rPr sz="1300" b="1" i="0">
                <a:solidFill>
                  <a:srgbClr val="FFFFFF"/>
                </a:solidFill>
                <a:latin typeface="Calibri"/>
              </a:rPr>
              <a:t>Critère</a:t>
            </a:r>
          </a:p>
        </p:txBody>
      </p:sp>
      <p:sp>
        <p:nvSpPr>
          <p:cNvPr id="30" name="Rectangle 29"/>
          <p:cNvSpPr/>
          <p:nvPr/>
        </p:nvSpPr>
        <p:spPr>
          <a:xfrm>
            <a:off x="3474720" y="4160520"/>
            <a:ext cx="3703320" cy="384048"/>
          </a:xfrm>
          <a:prstGeom prst="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84448" y="4233672"/>
            <a:ext cx="3520439" cy="292607"/>
          </a:xfrm>
          <a:prstGeom prst="rect">
            <a:avLst/>
          </a:prstGeom>
          <a:noFill/>
        </p:spPr>
        <p:txBody>
          <a:bodyPr wrap="square">
            <a:spAutoFit/>
          </a:bodyPr>
          <a:lstStyle/>
          <a:p>
            <a:pPr algn="l"/>
            <a:r>
              <a:rPr sz="1300" b="1" i="0">
                <a:solidFill>
                  <a:srgbClr val="FFFFFF"/>
                </a:solidFill>
                <a:latin typeface="Calibri"/>
              </a:rPr>
              <a:t>Sans POM</a:t>
            </a:r>
          </a:p>
        </p:txBody>
      </p:sp>
      <p:sp>
        <p:nvSpPr>
          <p:cNvPr id="32" name="Rectangle 31"/>
          <p:cNvSpPr/>
          <p:nvPr/>
        </p:nvSpPr>
        <p:spPr>
          <a:xfrm>
            <a:off x="7315200" y="4160520"/>
            <a:ext cx="4434840" cy="384048"/>
          </a:xfrm>
          <a:prstGeom prst="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24927" y="4233672"/>
            <a:ext cx="4251960" cy="292607"/>
          </a:xfrm>
          <a:prstGeom prst="rect">
            <a:avLst/>
          </a:prstGeom>
          <a:noFill/>
        </p:spPr>
        <p:txBody>
          <a:bodyPr wrap="square">
            <a:spAutoFit/>
          </a:bodyPr>
          <a:lstStyle/>
          <a:p>
            <a:pPr algn="l"/>
            <a:r>
              <a:rPr sz="1300" b="1" i="0">
                <a:solidFill>
                  <a:srgbClr val="FFFFFF"/>
                </a:solidFill>
                <a:latin typeface="Calibri"/>
              </a:rPr>
              <a:t>Avec POM</a:t>
            </a:r>
          </a:p>
        </p:txBody>
      </p:sp>
      <p:sp>
        <p:nvSpPr>
          <p:cNvPr id="34" name="Rectangle 33"/>
          <p:cNvSpPr/>
          <p:nvPr/>
        </p:nvSpPr>
        <p:spPr>
          <a:xfrm>
            <a:off x="365760" y="4544568"/>
            <a:ext cx="297180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 y="4617720"/>
            <a:ext cx="2788920" cy="292607"/>
          </a:xfrm>
          <a:prstGeom prst="rect">
            <a:avLst/>
          </a:prstGeom>
          <a:noFill/>
        </p:spPr>
        <p:txBody>
          <a:bodyPr wrap="square">
            <a:spAutoFit/>
          </a:bodyPr>
          <a:lstStyle/>
          <a:p>
            <a:pPr algn="l"/>
            <a:r>
              <a:rPr sz="1200" b="0" i="0">
                <a:solidFill>
                  <a:srgbClr val="141A2E"/>
                </a:solidFill>
                <a:latin typeface="Calibri"/>
              </a:rPr>
              <a:t>Sélecteur change</a:t>
            </a:r>
          </a:p>
        </p:txBody>
      </p:sp>
      <p:sp>
        <p:nvSpPr>
          <p:cNvPr id="36" name="Rectangle 35"/>
          <p:cNvSpPr/>
          <p:nvPr/>
        </p:nvSpPr>
        <p:spPr>
          <a:xfrm>
            <a:off x="3474720" y="4544568"/>
            <a:ext cx="370332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84448" y="4617720"/>
            <a:ext cx="3520439" cy="292607"/>
          </a:xfrm>
          <a:prstGeom prst="rect">
            <a:avLst/>
          </a:prstGeom>
          <a:noFill/>
        </p:spPr>
        <p:txBody>
          <a:bodyPr wrap="square">
            <a:spAutoFit/>
          </a:bodyPr>
          <a:lstStyle/>
          <a:p>
            <a:pPr algn="l"/>
            <a:r>
              <a:rPr sz="1200" b="0" i="0">
                <a:solidFill>
                  <a:srgbClr val="C02A2A"/>
                </a:solidFill>
                <a:latin typeface="Calibri"/>
              </a:rPr>
              <a:t>✗ Modifier N tests</a:t>
            </a:r>
          </a:p>
        </p:txBody>
      </p:sp>
      <p:sp>
        <p:nvSpPr>
          <p:cNvPr id="38" name="Rectangle 37"/>
          <p:cNvSpPr/>
          <p:nvPr/>
        </p:nvSpPr>
        <p:spPr>
          <a:xfrm>
            <a:off x="7315200" y="4544568"/>
            <a:ext cx="443484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24927" y="4617720"/>
            <a:ext cx="4251960" cy="292607"/>
          </a:xfrm>
          <a:prstGeom prst="rect">
            <a:avLst/>
          </a:prstGeom>
          <a:noFill/>
        </p:spPr>
        <p:txBody>
          <a:bodyPr wrap="square">
            <a:spAutoFit/>
          </a:bodyPr>
          <a:lstStyle/>
          <a:p>
            <a:pPr algn="l"/>
            <a:r>
              <a:rPr sz="1200" b="0" i="0">
                <a:solidFill>
                  <a:srgbClr val="1A8A5A"/>
                </a:solidFill>
                <a:latin typeface="Calibri"/>
              </a:rPr>
              <a:t>✓ Modifier 1 classe</a:t>
            </a:r>
          </a:p>
        </p:txBody>
      </p:sp>
      <p:sp>
        <p:nvSpPr>
          <p:cNvPr id="40" name="Rectangle 39"/>
          <p:cNvSpPr/>
          <p:nvPr/>
        </p:nvSpPr>
        <p:spPr>
          <a:xfrm>
            <a:off x="365760" y="4928616"/>
            <a:ext cx="2971800" cy="384048"/>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488" y="5001768"/>
            <a:ext cx="2788920" cy="292607"/>
          </a:xfrm>
          <a:prstGeom prst="rect">
            <a:avLst/>
          </a:prstGeom>
          <a:noFill/>
        </p:spPr>
        <p:txBody>
          <a:bodyPr wrap="square">
            <a:spAutoFit/>
          </a:bodyPr>
          <a:lstStyle/>
          <a:p>
            <a:pPr algn="l"/>
            <a:r>
              <a:rPr sz="1200" b="0" i="0">
                <a:solidFill>
                  <a:srgbClr val="141A2E"/>
                </a:solidFill>
                <a:latin typeface="Calibri"/>
              </a:rPr>
              <a:t>Lisibilité</a:t>
            </a:r>
          </a:p>
        </p:txBody>
      </p:sp>
      <p:sp>
        <p:nvSpPr>
          <p:cNvPr id="42" name="Rectangle 41"/>
          <p:cNvSpPr/>
          <p:nvPr/>
        </p:nvSpPr>
        <p:spPr>
          <a:xfrm>
            <a:off x="3474720" y="4928616"/>
            <a:ext cx="3703320" cy="384048"/>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84448" y="5001768"/>
            <a:ext cx="3520439" cy="292607"/>
          </a:xfrm>
          <a:prstGeom prst="rect">
            <a:avLst/>
          </a:prstGeom>
          <a:noFill/>
        </p:spPr>
        <p:txBody>
          <a:bodyPr wrap="square">
            <a:spAutoFit/>
          </a:bodyPr>
          <a:lstStyle/>
          <a:p>
            <a:pPr algn="l"/>
            <a:r>
              <a:rPr sz="1200" b="0" i="0">
                <a:solidFill>
                  <a:srgbClr val="C02A2A"/>
                </a:solidFill>
                <a:latin typeface="Calibri"/>
              </a:rPr>
              <a:t>✗ Sélecteurs cryptiques</a:t>
            </a:r>
          </a:p>
        </p:txBody>
      </p:sp>
      <p:sp>
        <p:nvSpPr>
          <p:cNvPr id="44" name="Rectangle 43"/>
          <p:cNvSpPr/>
          <p:nvPr/>
        </p:nvSpPr>
        <p:spPr>
          <a:xfrm>
            <a:off x="7315200" y="4928616"/>
            <a:ext cx="4434840" cy="384048"/>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24927" y="5001768"/>
            <a:ext cx="4251960" cy="292607"/>
          </a:xfrm>
          <a:prstGeom prst="rect">
            <a:avLst/>
          </a:prstGeom>
          <a:noFill/>
        </p:spPr>
        <p:txBody>
          <a:bodyPr wrap="square">
            <a:spAutoFit/>
          </a:bodyPr>
          <a:lstStyle/>
          <a:p>
            <a:pPr algn="l"/>
            <a:r>
              <a:rPr sz="1200" b="0" i="0">
                <a:solidFill>
                  <a:srgbClr val="1A8A5A"/>
                </a:solidFill>
                <a:latin typeface="Calibri"/>
              </a:rPr>
              <a:t>✓ Méthodes expressives</a:t>
            </a:r>
          </a:p>
        </p:txBody>
      </p:sp>
      <p:sp>
        <p:nvSpPr>
          <p:cNvPr id="46" name="Rectangle 45"/>
          <p:cNvSpPr/>
          <p:nvPr/>
        </p:nvSpPr>
        <p:spPr>
          <a:xfrm>
            <a:off x="365760" y="5312664"/>
            <a:ext cx="297180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5488" y="5385816"/>
            <a:ext cx="2788920" cy="292607"/>
          </a:xfrm>
          <a:prstGeom prst="rect">
            <a:avLst/>
          </a:prstGeom>
          <a:noFill/>
        </p:spPr>
        <p:txBody>
          <a:bodyPr wrap="square">
            <a:spAutoFit/>
          </a:bodyPr>
          <a:lstStyle/>
          <a:p>
            <a:pPr algn="l"/>
            <a:r>
              <a:rPr sz="1200" b="0" i="0">
                <a:solidFill>
                  <a:srgbClr val="141A2E"/>
                </a:solidFill>
                <a:latin typeface="Calibri"/>
              </a:rPr>
              <a:t>Onboarding</a:t>
            </a:r>
          </a:p>
        </p:txBody>
      </p:sp>
      <p:sp>
        <p:nvSpPr>
          <p:cNvPr id="48" name="Rectangle 47"/>
          <p:cNvSpPr/>
          <p:nvPr/>
        </p:nvSpPr>
        <p:spPr>
          <a:xfrm>
            <a:off x="3474720" y="5312664"/>
            <a:ext cx="370332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584448" y="5385816"/>
            <a:ext cx="3520439" cy="292607"/>
          </a:xfrm>
          <a:prstGeom prst="rect">
            <a:avLst/>
          </a:prstGeom>
          <a:noFill/>
        </p:spPr>
        <p:txBody>
          <a:bodyPr wrap="square">
            <a:spAutoFit/>
          </a:bodyPr>
          <a:lstStyle/>
          <a:p>
            <a:pPr algn="l"/>
            <a:r>
              <a:rPr sz="1200" b="0" i="0">
                <a:solidFill>
                  <a:srgbClr val="C02A2A"/>
                </a:solidFill>
                <a:latin typeface="Calibri"/>
              </a:rPr>
              <a:t>✗ Comprendre chaque sélecteur</a:t>
            </a:r>
          </a:p>
        </p:txBody>
      </p:sp>
      <p:sp>
        <p:nvSpPr>
          <p:cNvPr id="50" name="Rectangle 49"/>
          <p:cNvSpPr/>
          <p:nvPr/>
        </p:nvSpPr>
        <p:spPr>
          <a:xfrm>
            <a:off x="7315200" y="5312664"/>
            <a:ext cx="443484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24927" y="5385816"/>
            <a:ext cx="4251960" cy="292607"/>
          </a:xfrm>
          <a:prstGeom prst="rect">
            <a:avLst/>
          </a:prstGeom>
          <a:noFill/>
        </p:spPr>
        <p:txBody>
          <a:bodyPr wrap="square">
            <a:spAutoFit/>
          </a:bodyPr>
          <a:lstStyle/>
          <a:p>
            <a:pPr algn="l"/>
            <a:r>
              <a:rPr sz="1200" b="0" i="0">
                <a:solidFill>
                  <a:srgbClr val="1A8A5A"/>
                </a:solidFill>
                <a:latin typeface="Calibri"/>
              </a:rPr>
              <a:t>✓ Lire les noms de méthodes</a:t>
            </a:r>
          </a:p>
        </p:txBody>
      </p:sp>
      <p:sp>
        <p:nvSpPr>
          <p:cNvPr id="52" name="Rectangle 51"/>
          <p:cNvSpPr/>
          <p:nvPr/>
        </p:nvSpPr>
        <p:spPr>
          <a:xfrm>
            <a:off x="365760" y="5696712"/>
            <a:ext cx="2971800" cy="384048"/>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5488" y="5769864"/>
            <a:ext cx="2788920" cy="292607"/>
          </a:xfrm>
          <a:prstGeom prst="rect">
            <a:avLst/>
          </a:prstGeom>
          <a:noFill/>
        </p:spPr>
        <p:txBody>
          <a:bodyPr wrap="square">
            <a:spAutoFit/>
          </a:bodyPr>
          <a:lstStyle/>
          <a:p>
            <a:pPr algn="l"/>
            <a:r>
              <a:rPr sz="1200" b="0" i="0">
                <a:solidFill>
                  <a:srgbClr val="141A2E"/>
                </a:solidFill>
                <a:latin typeface="Calibri"/>
              </a:rPr>
              <a:t>Duplication</a:t>
            </a:r>
          </a:p>
        </p:txBody>
      </p:sp>
      <p:sp>
        <p:nvSpPr>
          <p:cNvPr id="54" name="Rectangle 53"/>
          <p:cNvSpPr/>
          <p:nvPr/>
        </p:nvSpPr>
        <p:spPr>
          <a:xfrm>
            <a:off x="3474720" y="5696712"/>
            <a:ext cx="3703320" cy="384048"/>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584448" y="5769864"/>
            <a:ext cx="3520439" cy="292607"/>
          </a:xfrm>
          <a:prstGeom prst="rect">
            <a:avLst/>
          </a:prstGeom>
          <a:noFill/>
        </p:spPr>
        <p:txBody>
          <a:bodyPr wrap="square">
            <a:spAutoFit/>
          </a:bodyPr>
          <a:lstStyle/>
          <a:p>
            <a:pPr algn="l"/>
            <a:r>
              <a:rPr sz="1200" b="0" i="0">
                <a:solidFill>
                  <a:srgbClr val="C02A2A"/>
                </a:solidFill>
                <a:latin typeface="Calibri"/>
              </a:rPr>
              <a:t>✗ Copier-coller partout</a:t>
            </a:r>
          </a:p>
        </p:txBody>
      </p:sp>
      <p:sp>
        <p:nvSpPr>
          <p:cNvPr id="56" name="Rectangle 55"/>
          <p:cNvSpPr/>
          <p:nvPr/>
        </p:nvSpPr>
        <p:spPr>
          <a:xfrm>
            <a:off x="7315200" y="5696712"/>
            <a:ext cx="4434840" cy="384048"/>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24927" y="5769864"/>
            <a:ext cx="4251960" cy="292607"/>
          </a:xfrm>
          <a:prstGeom prst="rect">
            <a:avLst/>
          </a:prstGeom>
          <a:noFill/>
        </p:spPr>
        <p:txBody>
          <a:bodyPr wrap="square">
            <a:spAutoFit/>
          </a:bodyPr>
          <a:lstStyle/>
          <a:p>
            <a:pPr algn="l"/>
            <a:r>
              <a:rPr sz="1200" b="0" i="0">
                <a:solidFill>
                  <a:srgbClr val="1A8A5A"/>
                </a:solidFill>
                <a:latin typeface="Calibri"/>
              </a:rPr>
              <a:t>✓ Appel unique à la méthode</a:t>
            </a:r>
          </a:p>
        </p:txBody>
      </p:sp>
      <p:sp>
        <p:nvSpPr>
          <p:cNvPr id="58" name="Rectangle 57"/>
          <p:cNvSpPr/>
          <p:nvPr/>
        </p:nvSpPr>
        <p:spPr>
          <a:xfrm>
            <a:off x="365760" y="6080760"/>
            <a:ext cx="297180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75488" y="6153912"/>
            <a:ext cx="2788920" cy="292607"/>
          </a:xfrm>
          <a:prstGeom prst="rect">
            <a:avLst/>
          </a:prstGeom>
          <a:noFill/>
        </p:spPr>
        <p:txBody>
          <a:bodyPr wrap="square">
            <a:spAutoFit/>
          </a:bodyPr>
          <a:lstStyle/>
          <a:p>
            <a:pPr algn="l"/>
            <a:r>
              <a:rPr sz="1200" b="0" i="0">
                <a:solidFill>
                  <a:srgbClr val="141A2E"/>
                </a:solidFill>
                <a:latin typeface="Calibri"/>
              </a:rPr>
              <a:t>Ajout d'un test</a:t>
            </a:r>
          </a:p>
        </p:txBody>
      </p:sp>
      <p:sp>
        <p:nvSpPr>
          <p:cNvPr id="60" name="Rectangle 59"/>
          <p:cNvSpPr/>
          <p:nvPr/>
        </p:nvSpPr>
        <p:spPr>
          <a:xfrm>
            <a:off x="3474720" y="6080760"/>
            <a:ext cx="370332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84448" y="6153912"/>
            <a:ext cx="3520439" cy="292607"/>
          </a:xfrm>
          <a:prstGeom prst="rect">
            <a:avLst/>
          </a:prstGeom>
          <a:noFill/>
        </p:spPr>
        <p:txBody>
          <a:bodyPr wrap="square">
            <a:spAutoFit/>
          </a:bodyPr>
          <a:lstStyle/>
          <a:p>
            <a:pPr algn="l"/>
            <a:r>
              <a:rPr sz="1200" b="0" i="0">
                <a:solidFill>
                  <a:srgbClr val="C02A2A"/>
                </a:solidFill>
                <a:latin typeface="Calibri"/>
              </a:rPr>
              <a:t>✗ Réécrire les interactions</a:t>
            </a:r>
          </a:p>
        </p:txBody>
      </p:sp>
      <p:sp>
        <p:nvSpPr>
          <p:cNvPr id="62" name="Rectangle 61"/>
          <p:cNvSpPr/>
          <p:nvPr/>
        </p:nvSpPr>
        <p:spPr>
          <a:xfrm>
            <a:off x="7315200" y="6080760"/>
            <a:ext cx="4434840" cy="3840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424927" y="6153912"/>
            <a:ext cx="4251960" cy="292607"/>
          </a:xfrm>
          <a:prstGeom prst="rect">
            <a:avLst/>
          </a:prstGeom>
          <a:noFill/>
        </p:spPr>
        <p:txBody>
          <a:bodyPr wrap="square">
            <a:spAutoFit/>
          </a:bodyPr>
          <a:lstStyle/>
          <a:p>
            <a:pPr algn="l"/>
            <a:r>
              <a:rPr sz="1200" b="0" i="0">
                <a:solidFill>
                  <a:srgbClr val="1A8A5A"/>
                </a:solidFill>
                <a:latin typeface="Calibri"/>
              </a:rPr>
              <a:t>✓ Réutiliser les méthodes</a:t>
            </a:r>
          </a:p>
        </p:txBody>
      </p:sp>
      <p:sp>
        <p:nvSpPr>
          <p:cNvPr id="64" name="Rectangle 63"/>
          <p:cNvSpPr/>
          <p:nvPr/>
        </p:nvSpPr>
        <p:spPr>
          <a:xfrm>
            <a:off x="0" y="6720840"/>
            <a:ext cx="12188952" cy="13716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65760" y="6739128"/>
            <a:ext cx="10972800" cy="137160"/>
          </a:xfrm>
          <a:prstGeom prst="rect">
            <a:avLst/>
          </a:prstGeom>
          <a:noFill/>
        </p:spPr>
        <p:txBody>
          <a:bodyPr wrap="square">
            <a:spAutoFit/>
          </a:bodyPr>
          <a:lstStyle/>
          <a:p>
            <a:pPr algn="ctr"/>
            <a:r>
              <a:rPr sz="900" b="0" i="0">
                <a:solidFill>
                  <a:srgbClr val="444D5E"/>
                </a:solidFill>
                <a:latin typeface="Calibri"/>
              </a:rPr>
              <a:t>Formation Playwright — AmbientIT  ·  Page Object Model  ·  Projet SauceDemo</a:t>
            </a:r>
          </a:p>
        </p:txBody>
      </p:sp>
      <p:sp>
        <p:nvSpPr>
          <p:cNvPr id="66" name="TextBox 65"/>
          <p:cNvSpPr txBox="1"/>
          <p:nvPr/>
        </p:nvSpPr>
        <p:spPr>
          <a:xfrm>
            <a:off x="11795760" y="6739128"/>
            <a:ext cx="320040" cy="137160"/>
          </a:xfrm>
          <a:prstGeom prst="rect">
            <a:avLst/>
          </a:prstGeom>
          <a:noFill/>
        </p:spPr>
        <p:txBody>
          <a:bodyPr wrap="square">
            <a:spAutoFit/>
          </a:bodyPr>
          <a:lstStyle/>
          <a:p>
            <a:pPr algn="l"/>
            <a:r>
              <a:rPr sz="900" b="0" i="0">
                <a:solidFill>
                  <a:srgbClr val="444D5E"/>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228600"/>
            <a:ext cx="54864" cy="45720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4572000" cy="292608"/>
          </a:xfrm>
          <a:prstGeom prst="rect">
            <a:avLst/>
          </a:prstGeom>
          <a:noFill/>
        </p:spPr>
        <p:txBody>
          <a:bodyPr wrap="square">
            <a:spAutoFit/>
          </a:bodyPr>
          <a:lstStyle/>
          <a:p>
            <a:pPr algn="l"/>
            <a:r>
              <a:rPr sz="1000" b="1" i="0">
                <a:solidFill>
                  <a:srgbClr val="F04E6A"/>
                </a:solidFill>
                <a:latin typeface="Calibri"/>
              </a:rPr>
              <a:t>06 — MISE EN PRATIQUE</a:t>
            </a:r>
          </a:p>
        </p:txBody>
      </p:sp>
      <p:sp>
        <p:nvSpPr>
          <p:cNvPr id="4" name="TextBox 3"/>
          <p:cNvSpPr txBox="1"/>
          <p:nvPr/>
        </p:nvSpPr>
        <p:spPr>
          <a:xfrm>
            <a:off x="365760" y="566928"/>
            <a:ext cx="11430000" cy="914400"/>
          </a:xfrm>
          <a:prstGeom prst="rect">
            <a:avLst/>
          </a:prstGeom>
          <a:noFill/>
        </p:spPr>
        <p:txBody>
          <a:bodyPr wrap="square">
            <a:spAutoFit/>
          </a:bodyPr>
          <a:lstStyle/>
          <a:p>
            <a:pPr algn="l"/>
            <a:r>
              <a:rPr sz="3600" b="1" i="0">
                <a:solidFill>
                  <a:srgbClr val="141A2E"/>
                </a:solidFill>
                <a:latin typeface="Calibri"/>
              </a:rPr>
              <a:t>Lancer le projet</a:t>
            </a:r>
          </a:p>
        </p:txBody>
      </p:sp>
      <p:sp>
        <p:nvSpPr>
          <p:cNvPr id="5" name="Rectangle 4"/>
          <p:cNvSpPr/>
          <p:nvPr/>
        </p:nvSpPr>
        <p:spPr>
          <a:xfrm>
            <a:off x="365760" y="1435607"/>
            <a:ext cx="914400" cy="45720"/>
          </a:xfrm>
          <a:prstGeom prst="rect">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65760" y="1572768"/>
            <a:ext cx="475488" cy="475488"/>
          </a:xfrm>
          <a:prstGeom prst="ellipse">
            <a:avLst/>
          </a:prstGeom>
          <a:solidFill>
            <a:srgbClr val="F0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627632"/>
            <a:ext cx="475488" cy="384048"/>
          </a:xfrm>
          <a:prstGeom prst="rect">
            <a:avLst/>
          </a:prstGeom>
          <a:noFill/>
        </p:spPr>
        <p:txBody>
          <a:bodyPr wrap="square">
            <a:spAutoFit/>
          </a:bodyPr>
          <a:lstStyle/>
          <a:p>
            <a:pPr algn="ctr"/>
            <a:r>
              <a:rPr sz="1600" b="1" i="0">
                <a:solidFill>
                  <a:srgbClr val="FFFFFF"/>
                </a:solidFill>
                <a:latin typeface="Calibri"/>
              </a:rPr>
              <a:t>1</a:t>
            </a:r>
          </a:p>
        </p:txBody>
      </p:sp>
      <p:sp>
        <p:nvSpPr>
          <p:cNvPr id="8" name="TextBox 7"/>
          <p:cNvSpPr txBox="1"/>
          <p:nvPr/>
        </p:nvSpPr>
        <p:spPr>
          <a:xfrm>
            <a:off x="1005840" y="1572768"/>
            <a:ext cx="6858000" cy="347472"/>
          </a:xfrm>
          <a:prstGeom prst="rect">
            <a:avLst/>
          </a:prstGeom>
          <a:noFill/>
        </p:spPr>
        <p:txBody>
          <a:bodyPr wrap="square">
            <a:spAutoFit/>
          </a:bodyPr>
          <a:lstStyle/>
          <a:p>
            <a:pPr algn="l"/>
            <a:r>
              <a:rPr sz="1500" b="1" i="0">
                <a:solidFill>
                  <a:srgbClr val="F04E6A"/>
                </a:solidFill>
                <a:latin typeface="Calibri"/>
              </a:rPr>
              <a:t>Installer les dépendances</a:t>
            </a:r>
          </a:p>
        </p:txBody>
      </p:sp>
      <p:sp>
        <p:nvSpPr>
          <p:cNvPr id="9" name="TextBox 8"/>
          <p:cNvSpPr txBox="1"/>
          <p:nvPr/>
        </p:nvSpPr>
        <p:spPr>
          <a:xfrm>
            <a:off x="1005840" y="1920240"/>
            <a:ext cx="6858000" cy="347472"/>
          </a:xfrm>
          <a:prstGeom prst="rect">
            <a:avLst/>
          </a:prstGeom>
          <a:noFill/>
        </p:spPr>
        <p:txBody>
          <a:bodyPr wrap="square">
            <a:spAutoFit/>
          </a:bodyPr>
          <a:lstStyle/>
          <a:p>
            <a:pPr algn="l"/>
            <a:r>
              <a:rPr sz="1300" b="0" i="0">
                <a:solidFill>
                  <a:srgbClr val="444D5E"/>
                </a:solidFill>
                <a:latin typeface="Calibri"/>
              </a:rPr>
              <a:t>Installe Playwright et les navigateurs nécessaires.</a:t>
            </a:r>
          </a:p>
        </p:txBody>
      </p:sp>
      <p:sp>
        <p:nvSpPr>
          <p:cNvPr id="10" name="Rectangle 9"/>
          <p:cNvSpPr/>
          <p:nvPr/>
        </p:nvSpPr>
        <p:spPr>
          <a:xfrm>
            <a:off x="8138160" y="1572768"/>
            <a:ext cx="3657600" cy="73152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64208"/>
            <a:ext cx="3383280" cy="594360"/>
          </a:xfrm>
          <a:prstGeom prst="rect">
            <a:avLst/>
          </a:prstGeom>
          <a:noFill/>
        </p:spPr>
        <p:txBody>
          <a:bodyPr wrap="square">
            <a:spAutoFit/>
          </a:bodyPr>
          <a:lstStyle/>
          <a:p>
            <a:pPr algn="l"/>
            <a:r>
              <a:rPr sz="1300" b="0" i="0">
                <a:solidFill>
                  <a:srgbClr val="CCD3E0"/>
                </a:solidFill>
                <a:latin typeface="Courier New"/>
              </a:rPr>
              <a:t>npm install
npx playwright install chromium</a:t>
            </a:r>
          </a:p>
        </p:txBody>
      </p:sp>
      <p:sp>
        <p:nvSpPr>
          <p:cNvPr id="12" name="Oval 11"/>
          <p:cNvSpPr/>
          <p:nvPr/>
        </p:nvSpPr>
        <p:spPr>
          <a:xfrm>
            <a:off x="365760" y="3054096"/>
            <a:ext cx="475488" cy="475488"/>
          </a:xfrm>
          <a:prstGeom prst="ellipse">
            <a:avLst/>
          </a:prstGeom>
          <a:solidFill>
            <a:srgbClr val="2DB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3108960"/>
            <a:ext cx="475488" cy="384048"/>
          </a:xfrm>
          <a:prstGeom prst="rect">
            <a:avLst/>
          </a:prstGeom>
          <a:noFill/>
        </p:spPr>
        <p:txBody>
          <a:bodyPr wrap="square">
            <a:spAutoFit/>
          </a:bodyPr>
          <a:lstStyle/>
          <a:p>
            <a:pPr algn="ctr"/>
            <a:r>
              <a:rPr sz="1600" b="1" i="0">
                <a:solidFill>
                  <a:srgbClr val="FFFFFF"/>
                </a:solidFill>
                <a:latin typeface="Calibri"/>
              </a:rPr>
              <a:t>2</a:t>
            </a:r>
          </a:p>
        </p:txBody>
      </p:sp>
      <p:sp>
        <p:nvSpPr>
          <p:cNvPr id="14" name="TextBox 13"/>
          <p:cNvSpPr txBox="1"/>
          <p:nvPr/>
        </p:nvSpPr>
        <p:spPr>
          <a:xfrm>
            <a:off x="1005840" y="3054096"/>
            <a:ext cx="6858000" cy="347472"/>
          </a:xfrm>
          <a:prstGeom prst="rect">
            <a:avLst/>
          </a:prstGeom>
          <a:noFill/>
        </p:spPr>
        <p:txBody>
          <a:bodyPr wrap="square">
            <a:spAutoFit/>
          </a:bodyPr>
          <a:lstStyle/>
          <a:p>
            <a:pPr algn="l"/>
            <a:r>
              <a:rPr sz="1500" b="1" i="0">
                <a:solidFill>
                  <a:srgbClr val="2DBEB6"/>
                </a:solidFill>
                <a:latin typeface="Calibri"/>
              </a:rPr>
              <a:t>Lancer les tests (mode visible)</a:t>
            </a:r>
          </a:p>
        </p:txBody>
      </p:sp>
      <p:sp>
        <p:nvSpPr>
          <p:cNvPr id="15" name="TextBox 14"/>
          <p:cNvSpPr txBox="1"/>
          <p:nvPr/>
        </p:nvSpPr>
        <p:spPr>
          <a:xfrm>
            <a:off x="1005840" y="3401568"/>
            <a:ext cx="6858000" cy="347472"/>
          </a:xfrm>
          <a:prstGeom prst="rect">
            <a:avLst/>
          </a:prstGeom>
          <a:noFill/>
        </p:spPr>
        <p:txBody>
          <a:bodyPr wrap="square">
            <a:spAutoFit/>
          </a:bodyPr>
          <a:lstStyle/>
          <a:p>
            <a:pPr algn="l"/>
            <a:r>
              <a:rPr sz="1300" b="0" i="0">
                <a:solidFill>
                  <a:srgbClr val="444D5E"/>
                </a:solidFill>
                <a:latin typeface="Calibri"/>
              </a:rPr>
              <a:t>Ouvre le navigateur avec un ralentissement de 1 s pour observer chaque action.</a:t>
            </a:r>
          </a:p>
        </p:txBody>
      </p:sp>
      <p:sp>
        <p:nvSpPr>
          <p:cNvPr id="16" name="Rectangle 15"/>
          <p:cNvSpPr/>
          <p:nvPr/>
        </p:nvSpPr>
        <p:spPr>
          <a:xfrm>
            <a:off x="8138160" y="3054096"/>
            <a:ext cx="3657600" cy="73152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3145536"/>
            <a:ext cx="3383280" cy="594360"/>
          </a:xfrm>
          <a:prstGeom prst="rect">
            <a:avLst/>
          </a:prstGeom>
          <a:noFill/>
        </p:spPr>
        <p:txBody>
          <a:bodyPr wrap="square">
            <a:spAutoFit/>
          </a:bodyPr>
          <a:lstStyle/>
          <a:p>
            <a:pPr algn="l"/>
            <a:r>
              <a:rPr sz="1300" b="0" i="0">
                <a:solidFill>
                  <a:srgbClr val="CCD3E0"/>
                </a:solidFill>
                <a:latin typeface="Courier New"/>
              </a:rPr>
              <a:t>npm run test:headed</a:t>
            </a:r>
          </a:p>
        </p:txBody>
      </p:sp>
      <p:sp>
        <p:nvSpPr>
          <p:cNvPr id="18" name="Oval 17"/>
          <p:cNvSpPr/>
          <p:nvPr/>
        </p:nvSpPr>
        <p:spPr>
          <a:xfrm>
            <a:off x="365760" y="4535424"/>
            <a:ext cx="475488" cy="475488"/>
          </a:xfrm>
          <a:prstGeom prst="ellipse">
            <a:avLst/>
          </a:prstGeom>
          <a:solidFill>
            <a:srgbClr val="5A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590288"/>
            <a:ext cx="475488" cy="384048"/>
          </a:xfrm>
          <a:prstGeom prst="rect">
            <a:avLst/>
          </a:prstGeom>
          <a:noFill/>
        </p:spPr>
        <p:txBody>
          <a:bodyPr wrap="square">
            <a:spAutoFit/>
          </a:bodyPr>
          <a:lstStyle/>
          <a:p>
            <a:pPr algn="ctr"/>
            <a:r>
              <a:rPr sz="1600" b="1" i="0">
                <a:solidFill>
                  <a:srgbClr val="FFFFFF"/>
                </a:solidFill>
                <a:latin typeface="Calibri"/>
              </a:rPr>
              <a:t>3</a:t>
            </a:r>
          </a:p>
        </p:txBody>
      </p:sp>
      <p:sp>
        <p:nvSpPr>
          <p:cNvPr id="20" name="TextBox 19"/>
          <p:cNvSpPr txBox="1"/>
          <p:nvPr/>
        </p:nvSpPr>
        <p:spPr>
          <a:xfrm>
            <a:off x="1005840" y="4535424"/>
            <a:ext cx="6858000" cy="347472"/>
          </a:xfrm>
          <a:prstGeom prst="rect">
            <a:avLst/>
          </a:prstGeom>
          <a:noFill/>
        </p:spPr>
        <p:txBody>
          <a:bodyPr wrap="square">
            <a:spAutoFit/>
          </a:bodyPr>
          <a:lstStyle/>
          <a:p>
            <a:pPr algn="l"/>
            <a:r>
              <a:rPr sz="1500" b="1" i="0">
                <a:solidFill>
                  <a:srgbClr val="5A7FFF"/>
                </a:solidFill>
                <a:latin typeface="Calibri"/>
              </a:rPr>
              <a:t>Consulter le rapport</a:t>
            </a:r>
          </a:p>
        </p:txBody>
      </p:sp>
      <p:sp>
        <p:nvSpPr>
          <p:cNvPr id="21" name="TextBox 20"/>
          <p:cNvSpPr txBox="1"/>
          <p:nvPr/>
        </p:nvSpPr>
        <p:spPr>
          <a:xfrm>
            <a:off x="1005840" y="4882896"/>
            <a:ext cx="6858000" cy="347472"/>
          </a:xfrm>
          <a:prstGeom prst="rect">
            <a:avLst/>
          </a:prstGeom>
          <a:noFill/>
        </p:spPr>
        <p:txBody>
          <a:bodyPr wrap="square">
            <a:spAutoFit/>
          </a:bodyPr>
          <a:lstStyle/>
          <a:p>
            <a:pPr algn="l"/>
            <a:r>
              <a:rPr sz="1300" b="0" i="0">
                <a:solidFill>
                  <a:srgbClr val="444D5E"/>
                </a:solidFill>
                <a:latin typeface="Calibri"/>
              </a:rPr>
              <a:t>Ouvre le rapport HTML avec captures d'écran en cas d'échec.</a:t>
            </a:r>
          </a:p>
        </p:txBody>
      </p:sp>
      <p:sp>
        <p:nvSpPr>
          <p:cNvPr id="22" name="Rectangle 21"/>
          <p:cNvSpPr/>
          <p:nvPr/>
        </p:nvSpPr>
        <p:spPr>
          <a:xfrm>
            <a:off x="8138160" y="4535424"/>
            <a:ext cx="3657600" cy="73152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4626864"/>
            <a:ext cx="3383280" cy="594360"/>
          </a:xfrm>
          <a:prstGeom prst="rect">
            <a:avLst/>
          </a:prstGeom>
          <a:noFill/>
        </p:spPr>
        <p:txBody>
          <a:bodyPr wrap="square">
            <a:spAutoFit/>
          </a:bodyPr>
          <a:lstStyle/>
          <a:p>
            <a:pPr algn="l"/>
            <a:r>
              <a:rPr sz="1300" b="0" i="0">
                <a:solidFill>
                  <a:srgbClr val="CCD3E0"/>
                </a:solidFill>
                <a:latin typeface="Courier New"/>
              </a:rPr>
              <a:t>npm run report</a:t>
            </a:r>
          </a:p>
        </p:txBody>
      </p:sp>
      <p:sp>
        <p:nvSpPr>
          <p:cNvPr id="24" name="TextBox 23"/>
          <p:cNvSpPr txBox="1"/>
          <p:nvPr/>
        </p:nvSpPr>
        <p:spPr>
          <a:xfrm>
            <a:off x="365760" y="5989320"/>
            <a:ext cx="5486400" cy="347472"/>
          </a:xfrm>
          <a:prstGeom prst="rect">
            <a:avLst/>
          </a:prstGeom>
          <a:noFill/>
        </p:spPr>
        <p:txBody>
          <a:bodyPr wrap="square">
            <a:spAutoFit/>
          </a:bodyPr>
          <a:lstStyle/>
          <a:p>
            <a:pPr algn="l"/>
            <a:r>
              <a:rPr sz="1500" b="1" i="0">
                <a:solidFill>
                  <a:srgbClr val="141A2E"/>
                </a:solidFill>
                <a:latin typeface="Calibri"/>
              </a:rPr>
              <a:t>Ce que vous observerez</a:t>
            </a:r>
          </a:p>
        </p:txBody>
      </p:sp>
      <p:sp>
        <p:nvSpPr>
          <p:cNvPr id="25" name="Rectangle 24"/>
          <p:cNvSpPr/>
          <p:nvPr/>
        </p:nvSpPr>
        <p:spPr>
          <a:xfrm>
            <a:off x="365760" y="6382512"/>
            <a:ext cx="5577840" cy="384048"/>
          </a:xfrm>
          <a:prstGeom prst="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446520"/>
            <a:ext cx="5303520" cy="320040"/>
          </a:xfrm>
          <a:prstGeom prst="rect">
            <a:avLst/>
          </a:prstGeom>
          <a:noFill/>
        </p:spPr>
        <p:txBody>
          <a:bodyPr wrap="square">
            <a:spAutoFit/>
          </a:bodyPr>
          <a:lstStyle/>
          <a:p>
            <a:pPr algn="l"/>
            <a:r>
              <a:rPr sz="1300" b="1" i="0">
                <a:solidFill>
                  <a:srgbClr val="FFFFFF"/>
                </a:solidFill>
                <a:latin typeface="Calibri"/>
              </a:rPr>
              <a:t>login.spec.ts</a:t>
            </a:r>
          </a:p>
        </p:txBody>
      </p:sp>
      <p:sp>
        <p:nvSpPr>
          <p:cNvPr id="27" name="Rectangle 26"/>
          <p:cNvSpPr/>
          <p:nvPr/>
        </p:nvSpPr>
        <p:spPr>
          <a:xfrm>
            <a:off x="365760" y="6766560"/>
            <a:ext cx="5577840" cy="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6858000"/>
            <a:ext cx="5212079" cy="-164592"/>
          </a:xfrm>
          <a:prstGeom prst="rect">
            <a:avLst/>
          </a:prstGeom>
          <a:noFill/>
        </p:spPr>
        <p:txBody>
          <a:bodyPr wrap="square">
            <a:spAutoFit/>
          </a:bodyPr>
          <a:lstStyle/>
          <a:p>
            <a:pPr>
              <a:spcBef>
                <a:spcPts val="400"/>
              </a:spcBef>
            </a:pPr>
            <a:r>
              <a:rPr sz="1300">
                <a:solidFill>
                  <a:srgbClr val="444D5E"/>
                </a:solidFill>
                <a:latin typeface="Calibri"/>
              </a:rPr>
              <a:t>• Connexion réussie → vérification /inventory.html</a:t>
            </a:r>
          </a:p>
        </p:txBody>
      </p:sp>
      <p:sp>
        <p:nvSpPr>
          <p:cNvPr id="29" name="Rectangle 28"/>
          <p:cNvSpPr/>
          <p:nvPr/>
        </p:nvSpPr>
        <p:spPr>
          <a:xfrm>
            <a:off x="6217920" y="6382512"/>
            <a:ext cx="5577840" cy="384048"/>
          </a:xfrm>
          <a:prstGeom prst="rect">
            <a:avLst/>
          </a:prstGeom>
          <a:solidFill>
            <a:srgbClr val="14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6446520"/>
            <a:ext cx="5303520" cy="320040"/>
          </a:xfrm>
          <a:prstGeom prst="rect">
            <a:avLst/>
          </a:prstGeom>
          <a:noFill/>
        </p:spPr>
        <p:txBody>
          <a:bodyPr wrap="square">
            <a:spAutoFit/>
          </a:bodyPr>
          <a:lstStyle/>
          <a:p>
            <a:pPr algn="l"/>
            <a:r>
              <a:rPr sz="1300" b="1" i="0">
                <a:solidFill>
                  <a:srgbClr val="FFFFFF"/>
                </a:solidFill>
                <a:latin typeface="Calibri"/>
              </a:rPr>
              <a:t>inventory.spec.ts</a:t>
            </a:r>
          </a:p>
        </p:txBody>
      </p:sp>
      <p:sp>
        <p:nvSpPr>
          <p:cNvPr id="31" name="Rectangle 30"/>
          <p:cNvSpPr/>
          <p:nvPr/>
        </p:nvSpPr>
        <p:spPr>
          <a:xfrm>
            <a:off x="6217920" y="6766560"/>
            <a:ext cx="5577840" cy="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6858000"/>
            <a:ext cx="5212079" cy="-164592"/>
          </a:xfrm>
          <a:prstGeom prst="rect">
            <a:avLst/>
          </a:prstGeom>
          <a:noFill/>
        </p:spPr>
        <p:txBody>
          <a:bodyPr wrap="square">
            <a:spAutoFit/>
          </a:bodyPr>
          <a:lstStyle/>
          <a:p>
            <a:pPr>
              <a:spcBef>
                <a:spcPts val="400"/>
              </a:spcBef>
            </a:pPr>
            <a:r>
              <a:rPr sz="1300">
                <a:solidFill>
                  <a:srgbClr val="444D5E"/>
                </a:solidFill>
                <a:latin typeface="Calibri"/>
              </a:rPr>
              <a:t>• Clic premier produit → vérification /inventory-item.html</a:t>
            </a:r>
          </a:p>
        </p:txBody>
      </p:sp>
      <p:sp>
        <p:nvSpPr>
          <p:cNvPr id="33" name="Rectangle 32"/>
          <p:cNvSpPr/>
          <p:nvPr/>
        </p:nvSpPr>
        <p:spPr>
          <a:xfrm>
            <a:off x="0" y="6720840"/>
            <a:ext cx="12188952" cy="13716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6739128"/>
            <a:ext cx="10972800" cy="137160"/>
          </a:xfrm>
          <a:prstGeom prst="rect">
            <a:avLst/>
          </a:prstGeom>
          <a:noFill/>
        </p:spPr>
        <p:txBody>
          <a:bodyPr wrap="square">
            <a:spAutoFit/>
          </a:bodyPr>
          <a:lstStyle/>
          <a:p>
            <a:pPr algn="ctr"/>
            <a:r>
              <a:rPr sz="900" b="0" i="0">
                <a:solidFill>
                  <a:srgbClr val="444D5E"/>
                </a:solidFill>
                <a:latin typeface="Calibri"/>
              </a:rPr>
              <a:t>Formation Playwright — AmbientIT  ·  Page Object Model  ·  Projet SauceDemo</a:t>
            </a:r>
          </a:p>
        </p:txBody>
      </p:sp>
      <p:sp>
        <p:nvSpPr>
          <p:cNvPr id="35" name="TextBox 34"/>
          <p:cNvSpPr txBox="1"/>
          <p:nvPr/>
        </p:nvSpPr>
        <p:spPr>
          <a:xfrm>
            <a:off x="11795760" y="6739128"/>
            <a:ext cx="320040" cy="137160"/>
          </a:xfrm>
          <a:prstGeom prst="rect">
            <a:avLst/>
          </a:prstGeom>
          <a:noFill/>
        </p:spPr>
        <p:txBody>
          <a:bodyPr wrap="square">
            <a:spAutoFit/>
          </a:bodyPr>
          <a:lstStyle/>
          <a:p>
            <a:pPr algn="l"/>
            <a:r>
              <a:rPr sz="900" b="0" i="0">
                <a:solidFill>
                  <a:srgbClr val="444D5E"/>
                </a:solidFill>
                <a:latin typeface="Calibri"/>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